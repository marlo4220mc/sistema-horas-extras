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8288000" cy="10287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00087B-981D-E797-1C4D-8E606B0A39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32A1D-1FEF-AC38-24D2-7D7B6018E0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18A462-18CC-EA5F-B4C2-7E5EDFEC8C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58F7EB-4150-59B7-206A-1019C39FC5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ACCBFA-B11A-DEC5-1D0D-3942DAC3D3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CF9A54-6203-DAC4-619B-924B30D095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2B148D-7FC4-8BD0-1160-57617346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31AAD9-60F6-A61C-CA1A-9CD1D8EDD9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D05DE0-1BE7-11BE-AE84-CEDBC33C68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B7ECD6-67D4-4333-DA31-749CF44D3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5AD05C-3DA0-D918-EDC2-03A2E764FE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F09062-2B28-E799-286D-57C00B52C1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81F265-A728-E147-2BB2-56F294386B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9A8D40-23FC-3D00-582E-60618C7FD5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4575DD-0288-A795-AE20-F6479941E6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74DDA6-BF75-4ED8-5DFA-17B59B18ED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43600F-3F4B-998D-2F9C-7BDC6EDCC3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105846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78067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090575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823270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17787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5432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9837230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90482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259030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7929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43770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343078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305899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946399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92665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6126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186336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69081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333947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907052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906070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299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45179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5411150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6529159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0274156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318206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491443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769877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498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88156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2629279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184921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78815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9702992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912467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212771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2161999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836764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58616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65597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14696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676850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2345084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6707211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87383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5528556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00556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7886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50276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58333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787777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04005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66636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8266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08501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061435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87162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2300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57402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862576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0349290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6194593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2793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601631393" name="TextBox 3"/>
          <p:cNvSpPr txBox="1"/>
          <p:nvPr/>
        </p:nvSpPr>
        <p:spPr bwMode="auto">
          <a:xfrm>
            <a:off x="2468880" y="777240"/>
            <a:ext cx="914436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FUNDAMENTOS DE PROGRAMACIÓN 2  |  1FIS275</a:t>
            </a:r>
            <a:endParaRPr lang="es-ES"/>
          </a:p>
        </p:txBody>
      </p:sp>
      <p:sp>
        <p:nvSpPr>
          <p:cNvPr id="1736935637" name="TextBox 4"/>
          <p:cNvSpPr txBox="1"/>
          <p:nvPr/>
        </p:nvSpPr>
        <p:spPr bwMode="auto">
          <a:xfrm>
            <a:off x="2468880" y="1828800"/>
            <a:ext cx="9144360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400" b="0" i="0">
                <a:solidFill>
                  <a:srgbClr val="F0F4F6"/>
                </a:solidFill>
                <a:latin typeface="Georgia"/>
              </a:rPr>
              <a:t>Ingeniería de Sistemas EPE</a:t>
            </a:r>
            <a:endParaRPr lang="es-ES"/>
          </a:p>
        </p:txBody>
      </p:sp>
      <p:sp>
        <p:nvSpPr>
          <p:cNvPr id="1592279571" name="TextBox 5"/>
          <p:cNvSpPr txBox="1"/>
          <p:nvPr/>
        </p:nvSpPr>
        <p:spPr bwMode="auto">
          <a:xfrm>
            <a:off x="2468880" y="2606040"/>
            <a:ext cx="13533480" cy="214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900" b="1" i="0">
                <a:solidFill>
                  <a:srgbClr val="E2D6BE"/>
                </a:solidFill>
                <a:latin typeface="Georgia"/>
              </a:rPr>
              <a:t>SISTEMA DE GESTIÓN Y CONTROL DE HORAS EXTRAS</a:t>
            </a:r>
            <a:endParaRPr lang="es-ES"/>
          </a:p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900" b="1" i="0">
                <a:solidFill>
                  <a:srgbClr val="E2D6BE"/>
                </a:solidFill>
                <a:latin typeface="Georgia"/>
              </a:rPr>
              <a:t>Y HORAS COMPENSADAS</a:t>
            </a:r>
            <a:endParaRPr lang="es-ES"/>
          </a:p>
        </p:txBody>
      </p:sp>
      <p:sp>
        <p:nvSpPr>
          <p:cNvPr id="1777649003" name="TextBox 6"/>
          <p:cNvSpPr txBox="1"/>
          <p:nvPr/>
        </p:nvSpPr>
        <p:spPr bwMode="auto">
          <a:xfrm>
            <a:off x="2468880" y="4846320"/>
            <a:ext cx="10058759" cy="41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50" b="0" i="0">
                <a:solidFill>
                  <a:srgbClr val="F0F4F6"/>
                </a:solidFill>
                <a:latin typeface="Calibri"/>
              </a:rPr>
              <a:t>Aplicación de consola en Python — Fábrica Marsar SRL</a:t>
            </a:r>
            <a:endParaRPr lang="es-ES"/>
          </a:p>
        </p:txBody>
      </p:sp>
      <p:sp>
        <p:nvSpPr>
          <p:cNvPr id="862100415" name="TextBox 7"/>
          <p:cNvSpPr txBox="1"/>
          <p:nvPr/>
        </p:nvSpPr>
        <p:spPr bwMode="auto">
          <a:xfrm>
            <a:off x="13075920" y="4480560"/>
            <a:ext cx="4206600" cy="1646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2400" b="0" i="0">
                <a:solidFill>
                  <a:srgbClr val="F0F4F6"/>
                </a:solidFill>
                <a:latin typeface="Georgia"/>
              </a:rPr>
              <a:t>Encapsulamiento</a:t>
            </a:r>
            <a:endParaRPr lang="es-ES"/>
          </a:p>
          <a:p>
            <a:pPr algn="r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2400" b="0" i="0">
                <a:solidFill>
                  <a:srgbClr val="F0F4F6"/>
                </a:solidFill>
                <a:latin typeface="Georgia"/>
              </a:rPr>
              <a:t>Herencia</a:t>
            </a:r>
            <a:endParaRPr lang="es-ES"/>
          </a:p>
          <a:p>
            <a:pPr algn="r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2400" b="0" i="0">
                <a:solidFill>
                  <a:srgbClr val="F0F4F6"/>
                </a:solidFill>
                <a:latin typeface="Georgia"/>
              </a:rPr>
              <a:t>Polimorfismo</a:t>
            </a:r>
            <a:endParaRPr lang="es-ES"/>
          </a:p>
        </p:txBody>
      </p:sp>
      <p:sp>
        <p:nvSpPr>
          <p:cNvPr id="350566087" name="TextBox 8"/>
          <p:cNvSpPr txBox="1"/>
          <p:nvPr/>
        </p:nvSpPr>
        <p:spPr bwMode="auto">
          <a:xfrm>
            <a:off x="2468880" y="6400800"/>
            <a:ext cx="7315559" cy="13376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1950" b="1" i="0">
                <a:solidFill>
                  <a:srgbClr val="A8DADC"/>
                </a:solidFill>
                <a:latin typeface="Calibri"/>
              </a:rPr>
              <a:t>MARLON JAMES CASTRO CASTRO</a:t>
            </a:r>
            <a:endParaRPr lang="es-ES"/>
          </a:p>
          <a:p>
            <a:pPr algn="l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1950" b="1" i="0">
                <a:solidFill>
                  <a:srgbClr val="A8DADC"/>
                </a:solidFill>
                <a:latin typeface="Calibri"/>
              </a:rPr>
              <a:t>FÁTIMA AURIS ALIAGA</a:t>
            </a:r>
            <a:endParaRPr lang="es-ES"/>
          </a:p>
          <a:p>
            <a:pPr algn="l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1950" b="1" i="0">
                <a:solidFill>
                  <a:srgbClr val="A8DADC"/>
                </a:solidFill>
                <a:latin typeface="Calibri"/>
              </a:rPr>
              <a:t>VÍCTOR HUGO LÓPEZ SOBRADO</a:t>
            </a:r>
            <a:endParaRPr lang="es-ES"/>
          </a:p>
        </p:txBody>
      </p:sp>
      <p:sp>
        <p:nvSpPr>
          <p:cNvPr id="224228685" name="Rectangle 9"/>
          <p:cNvSpPr/>
          <p:nvPr/>
        </p:nvSpPr>
        <p:spPr bwMode="auto">
          <a:xfrm>
            <a:off x="2468880" y="8549640"/>
            <a:ext cx="82296" cy="566928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819155903" name="TextBox 10"/>
          <p:cNvSpPr txBox="1"/>
          <p:nvPr/>
        </p:nvSpPr>
        <p:spPr bwMode="auto">
          <a:xfrm>
            <a:off x="2743200" y="8613648"/>
            <a:ext cx="4572360" cy="4941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700" b="1" i="0">
                <a:solidFill>
                  <a:srgbClr val="F0F4F6"/>
                </a:solidFill>
                <a:latin typeface="Calibri"/>
              </a:rPr>
              <a:t>GRUPO 1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304816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779210582" name="TextBox 3"/>
          <p:cNvSpPr txBox="1"/>
          <p:nvPr/>
        </p:nvSpPr>
        <p:spPr bwMode="auto">
          <a:xfrm>
            <a:off x="822960" y="457200"/>
            <a:ext cx="16642440" cy="96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/>
            </a:pPr>
            <a:r>
              <a:rPr lang="es-ES" sz="6000" b="1" i="0">
                <a:solidFill>
                  <a:srgbClr val="E2D6BE"/>
                </a:solidFill>
                <a:latin typeface="Georgia"/>
              </a:rPr>
              <a:t>Tabla de Contenidos</a:t>
            </a:r>
            <a:endParaRPr lang="es-ES"/>
          </a:p>
        </p:txBody>
      </p:sp>
      <p:sp>
        <p:nvSpPr>
          <p:cNvPr id="1303965709" name="TextBox 4"/>
          <p:cNvSpPr txBox="1"/>
          <p:nvPr/>
        </p:nvSpPr>
        <p:spPr bwMode="auto">
          <a:xfrm>
            <a:off x="1828800" y="1234440"/>
            <a:ext cx="14630760" cy="329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800" b="1" i="0">
                <a:solidFill>
                  <a:srgbClr val="A8DADC"/>
                </a:solidFill>
                <a:latin typeface="Calibri"/>
              </a:rPr>
              <a:t>SISTEMA DE GESTIÓN Y CONTROL DE HORAS EXTRAS Y HORAS COMPENSADAS</a:t>
            </a:r>
            <a:endParaRPr lang="es-ES"/>
          </a:p>
        </p:txBody>
      </p:sp>
      <p:sp>
        <p:nvSpPr>
          <p:cNvPr id="1561708097" name="Rectangle 5"/>
          <p:cNvSpPr/>
          <p:nvPr/>
        </p:nvSpPr>
        <p:spPr bwMode="auto">
          <a:xfrm>
            <a:off x="6035039" y="1719072"/>
            <a:ext cx="6217920" cy="19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83402616" name="Rounded Rectangle 6"/>
          <p:cNvSpPr/>
          <p:nvPr/>
        </p:nvSpPr>
        <p:spPr bwMode="auto">
          <a:xfrm>
            <a:off x="868680" y="2240280"/>
            <a:ext cx="3127248" cy="21488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550829976" name="TextBox 7"/>
          <p:cNvSpPr txBox="1"/>
          <p:nvPr/>
        </p:nvSpPr>
        <p:spPr bwMode="auto">
          <a:xfrm>
            <a:off x="1179576" y="2532888"/>
            <a:ext cx="109764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7CCCF3"/>
                </a:solidFill>
                <a:latin typeface="Calibri"/>
              </a:rPr>
              <a:t>01</a:t>
            </a:r>
            <a:endParaRPr lang="es-ES"/>
          </a:p>
        </p:txBody>
      </p:sp>
      <p:sp>
        <p:nvSpPr>
          <p:cNvPr id="1260899224" name="Rectangle 8"/>
          <p:cNvSpPr/>
          <p:nvPr/>
        </p:nvSpPr>
        <p:spPr bwMode="auto">
          <a:xfrm>
            <a:off x="1179576" y="3172968"/>
            <a:ext cx="502920" cy="16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134225954" name="TextBox 9"/>
          <p:cNvSpPr txBox="1"/>
          <p:nvPr/>
        </p:nvSpPr>
        <p:spPr bwMode="auto">
          <a:xfrm>
            <a:off x="1179576" y="3355848"/>
            <a:ext cx="2514960" cy="3684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Introducción</a:t>
            </a:r>
            <a:endParaRPr lang="es-ES"/>
          </a:p>
        </p:txBody>
      </p:sp>
      <p:sp>
        <p:nvSpPr>
          <p:cNvPr id="1061749464" name="Rounded Rectangle 10"/>
          <p:cNvSpPr/>
          <p:nvPr/>
        </p:nvSpPr>
        <p:spPr bwMode="auto">
          <a:xfrm>
            <a:off x="4178808" y="2240280"/>
            <a:ext cx="3127248" cy="21488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60177469" name="TextBox 11"/>
          <p:cNvSpPr txBox="1"/>
          <p:nvPr/>
        </p:nvSpPr>
        <p:spPr bwMode="auto">
          <a:xfrm>
            <a:off x="4489704" y="2532888"/>
            <a:ext cx="109764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7CCCF3"/>
                </a:solidFill>
                <a:latin typeface="Calibri"/>
              </a:rPr>
              <a:t>02</a:t>
            </a:r>
            <a:endParaRPr lang="es-ES"/>
          </a:p>
        </p:txBody>
      </p:sp>
      <p:sp>
        <p:nvSpPr>
          <p:cNvPr id="1182089504" name="Rectangle 12"/>
          <p:cNvSpPr/>
          <p:nvPr/>
        </p:nvSpPr>
        <p:spPr bwMode="auto">
          <a:xfrm>
            <a:off x="4489704" y="3172968"/>
            <a:ext cx="502920" cy="16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407352715" name="TextBox 13"/>
          <p:cNvSpPr txBox="1"/>
          <p:nvPr/>
        </p:nvSpPr>
        <p:spPr bwMode="auto">
          <a:xfrm>
            <a:off x="4489704" y="3355848"/>
            <a:ext cx="2514960" cy="73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Situación actual y análisis del problema</a:t>
            </a:r>
            <a:endParaRPr lang="es-ES"/>
          </a:p>
        </p:txBody>
      </p:sp>
      <p:sp>
        <p:nvSpPr>
          <p:cNvPr id="458930567" name="Rounded Rectangle 14"/>
          <p:cNvSpPr/>
          <p:nvPr/>
        </p:nvSpPr>
        <p:spPr bwMode="auto">
          <a:xfrm>
            <a:off x="7488936" y="2240280"/>
            <a:ext cx="3127248" cy="21488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17722605" name="TextBox 15"/>
          <p:cNvSpPr txBox="1"/>
          <p:nvPr/>
        </p:nvSpPr>
        <p:spPr bwMode="auto">
          <a:xfrm>
            <a:off x="7799832" y="2532888"/>
            <a:ext cx="109764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7CCCF3"/>
                </a:solidFill>
                <a:latin typeface="Calibri"/>
              </a:rPr>
              <a:t>03</a:t>
            </a:r>
            <a:endParaRPr lang="es-ES"/>
          </a:p>
        </p:txBody>
      </p:sp>
      <p:sp>
        <p:nvSpPr>
          <p:cNvPr id="1766942027" name="Rectangle 16"/>
          <p:cNvSpPr/>
          <p:nvPr/>
        </p:nvSpPr>
        <p:spPr bwMode="auto">
          <a:xfrm>
            <a:off x="7799832" y="3172968"/>
            <a:ext cx="502920" cy="16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57296211" name="TextBox 17"/>
          <p:cNvSpPr txBox="1"/>
          <p:nvPr/>
        </p:nvSpPr>
        <p:spPr bwMode="auto">
          <a:xfrm>
            <a:off x="7799832" y="3355848"/>
            <a:ext cx="2514960" cy="3684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Objetivo del sistema</a:t>
            </a:r>
            <a:endParaRPr lang="es-ES"/>
          </a:p>
        </p:txBody>
      </p:sp>
      <p:sp>
        <p:nvSpPr>
          <p:cNvPr id="265375192" name="Rounded Rectangle 18"/>
          <p:cNvSpPr/>
          <p:nvPr/>
        </p:nvSpPr>
        <p:spPr bwMode="auto">
          <a:xfrm>
            <a:off x="10799064" y="2240280"/>
            <a:ext cx="3127248" cy="21488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586830197" name="TextBox 19"/>
          <p:cNvSpPr txBox="1"/>
          <p:nvPr/>
        </p:nvSpPr>
        <p:spPr bwMode="auto">
          <a:xfrm>
            <a:off x="11109960" y="2532888"/>
            <a:ext cx="109764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7CCCF3"/>
                </a:solidFill>
                <a:latin typeface="Calibri"/>
              </a:rPr>
              <a:t>04</a:t>
            </a:r>
            <a:endParaRPr lang="es-ES"/>
          </a:p>
        </p:txBody>
      </p:sp>
      <p:sp>
        <p:nvSpPr>
          <p:cNvPr id="866828049" name="Rectangle 20"/>
          <p:cNvSpPr/>
          <p:nvPr/>
        </p:nvSpPr>
        <p:spPr bwMode="auto">
          <a:xfrm>
            <a:off x="11109960" y="3172968"/>
            <a:ext cx="502920" cy="16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405710023" name="TextBox 21"/>
          <p:cNvSpPr txBox="1"/>
          <p:nvPr/>
        </p:nvSpPr>
        <p:spPr bwMode="auto">
          <a:xfrm>
            <a:off x="11109960" y="3355848"/>
            <a:ext cx="2514960" cy="73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Historias de usuario priorizadas</a:t>
            </a:r>
            <a:endParaRPr lang="es-ES"/>
          </a:p>
        </p:txBody>
      </p:sp>
      <p:sp>
        <p:nvSpPr>
          <p:cNvPr id="1133271129" name="Rounded Rectangle 22"/>
          <p:cNvSpPr/>
          <p:nvPr/>
        </p:nvSpPr>
        <p:spPr bwMode="auto">
          <a:xfrm>
            <a:off x="14109192" y="2240280"/>
            <a:ext cx="3127248" cy="21488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956393648" name="TextBox 23"/>
          <p:cNvSpPr txBox="1"/>
          <p:nvPr/>
        </p:nvSpPr>
        <p:spPr bwMode="auto">
          <a:xfrm>
            <a:off x="14420088" y="2532888"/>
            <a:ext cx="109764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7CCCF3"/>
                </a:solidFill>
                <a:latin typeface="Calibri"/>
              </a:rPr>
              <a:t>05</a:t>
            </a:r>
            <a:endParaRPr lang="es-ES"/>
          </a:p>
        </p:txBody>
      </p:sp>
      <p:sp>
        <p:nvSpPr>
          <p:cNvPr id="1939194951" name="Rectangle 24"/>
          <p:cNvSpPr/>
          <p:nvPr/>
        </p:nvSpPr>
        <p:spPr bwMode="auto">
          <a:xfrm>
            <a:off x="14420088" y="3172968"/>
            <a:ext cx="502920" cy="16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145459875" name="TextBox 25"/>
          <p:cNvSpPr txBox="1"/>
          <p:nvPr/>
        </p:nvSpPr>
        <p:spPr bwMode="auto">
          <a:xfrm>
            <a:off x="14420088" y="3355848"/>
            <a:ext cx="2514960" cy="73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Diseño de flujo de la aplicación</a:t>
            </a:r>
            <a:endParaRPr lang="es-ES"/>
          </a:p>
        </p:txBody>
      </p:sp>
      <p:sp>
        <p:nvSpPr>
          <p:cNvPr id="1470762169" name="Rounded Rectangle 26"/>
          <p:cNvSpPr/>
          <p:nvPr/>
        </p:nvSpPr>
        <p:spPr bwMode="auto">
          <a:xfrm>
            <a:off x="868680" y="4636008"/>
            <a:ext cx="3127248" cy="21488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553963279" name="TextBox 27"/>
          <p:cNvSpPr txBox="1"/>
          <p:nvPr/>
        </p:nvSpPr>
        <p:spPr bwMode="auto">
          <a:xfrm>
            <a:off x="1179576" y="4928616"/>
            <a:ext cx="109764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7CCCF3"/>
                </a:solidFill>
                <a:latin typeface="Calibri"/>
              </a:rPr>
              <a:t>06</a:t>
            </a:r>
            <a:endParaRPr lang="es-ES"/>
          </a:p>
        </p:txBody>
      </p:sp>
      <p:sp>
        <p:nvSpPr>
          <p:cNvPr id="1020950743" name="Rectangle 28"/>
          <p:cNvSpPr/>
          <p:nvPr/>
        </p:nvSpPr>
        <p:spPr bwMode="auto">
          <a:xfrm>
            <a:off x="1179576" y="5568696"/>
            <a:ext cx="502920" cy="16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068435503" name="TextBox 29"/>
          <p:cNvSpPr txBox="1"/>
          <p:nvPr/>
        </p:nvSpPr>
        <p:spPr bwMode="auto">
          <a:xfrm>
            <a:off x="1179576" y="5751576"/>
            <a:ext cx="2514960" cy="73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Diagrama de clases del modelo</a:t>
            </a:r>
            <a:endParaRPr lang="es-ES"/>
          </a:p>
        </p:txBody>
      </p:sp>
      <p:sp>
        <p:nvSpPr>
          <p:cNvPr id="2026394305" name="Rounded Rectangle 30"/>
          <p:cNvSpPr/>
          <p:nvPr/>
        </p:nvSpPr>
        <p:spPr bwMode="auto">
          <a:xfrm>
            <a:off x="4178808" y="4636008"/>
            <a:ext cx="3127248" cy="21488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673204179" name="TextBox 31"/>
          <p:cNvSpPr txBox="1"/>
          <p:nvPr/>
        </p:nvSpPr>
        <p:spPr bwMode="auto">
          <a:xfrm>
            <a:off x="4489704" y="4928616"/>
            <a:ext cx="109764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7CCCF3"/>
                </a:solidFill>
                <a:latin typeface="Calibri"/>
              </a:rPr>
              <a:t>07</a:t>
            </a:r>
            <a:endParaRPr lang="es-ES"/>
          </a:p>
        </p:txBody>
      </p:sp>
      <p:sp>
        <p:nvSpPr>
          <p:cNvPr id="771047248" name="Rectangle 32"/>
          <p:cNvSpPr/>
          <p:nvPr/>
        </p:nvSpPr>
        <p:spPr bwMode="auto">
          <a:xfrm>
            <a:off x="4489704" y="5568696"/>
            <a:ext cx="502920" cy="16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888793519" name="TextBox 33"/>
          <p:cNvSpPr txBox="1"/>
          <p:nvPr/>
        </p:nvSpPr>
        <p:spPr bwMode="auto">
          <a:xfrm>
            <a:off x="4489704" y="5751576"/>
            <a:ext cx="2514960" cy="73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Patrones de diseño aplicados</a:t>
            </a:r>
            <a:endParaRPr lang="es-ES"/>
          </a:p>
        </p:txBody>
      </p:sp>
      <p:sp>
        <p:nvSpPr>
          <p:cNvPr id="223450769" name="Rounded Rectangle 34"/>
          <p:cNvSpPr/>
          <p:nvPr/>
        </p:nvSpPr>
        <p:spPr bwMode="auto">
          <a:xfrm>
            <a:off x="7488936" y="4636008"/>
            <a:ext cx="3127248" cy="21488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77916096" name="TextBox 35"/>
          <p:cNvSpPr txBox="1"/>
          <p:nvPr/>
        </p:nvSpPr>
        <p:spPr bwMode="auto">
          <a:xfrm>
            <a:off x="7799832" y="4928616"/>
            <a:ext cx="109764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7CCCF3"/>
                </a:solidFill>
                <a:latin typeface="Calibri"/>
              </a:rPr>
              <a:t>08</a:t>
            </a:r>
            <a:endParaRPr lang="es-ES"/>
          </a:p>
        </p:txBody>
      </p:sp>
      <p:sp>
        <p:nvSpPr>
          <p:cNvPr id="1872211146" name="Rectangle 36"/>
          <p:cNvSpPr/>
          <p:nvPr/>
        </p:nvSpPr>
        <p:spPr bwMode="auto">
          <a:xfrm>
            <a:off x="7799832" y="5568696"/>
            <a:ext cx="502920" cy="16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89206001" name="TextBox 37"/>
          <p:cNvSpPr txBox="1"/>
          <p:nvPr/>
        </p:nvSpPr>
        <p:spPr bwMode="auto">
          <a:xfrm>
            <a:off x="7799832" y="5751576"/>
            <a:ext cx="2514960" cy="73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Verificación con pruebas unitarias</a:t>
            </a:r>
            <a:endParaRPr lang="es-ES"/>
          </a:p>
        </p:txBody>
      </p:sp>
      <p:sp>
        <p:nvSpPr>
          <p:cNvPr id="1877832261" name="Rounded Rectangle 38"/>
          <p:cNvSpPr/>
          <p:nvPr/>
        </p:nvSpPr>
        <p:spPr bwMode="auto">
          <a:xfrm>
            <a:off x="10799064" y="4636008"/>
            <a:ext cx="3127248" cy="21488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18639631" name="TextBox 39"/>
          <p:cNvSpPr txBox="1"/>
          <p:nvPr/>
        </p:nvSpPr>
        <p:spPr bwMode="auto">
          <a:xfrm>
            <a:off x="11109960" y="4928616"/>
            <a:ext cx="109764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7CCCF3"/>
                </a:solidFill>
                <a:latin typeface="Calibri"/>
              </a:rPr>
              <a:t>09</a:t>
            </a:r>
            <a:endParaRPr lang="es-ES"/>
          </a:p>
        </p:txBody>
      </p:sp>
      <p:sp>
        <p:nvSpPr>
          <p:cNvPr id="614253861" name="Rectangle 40"/>
          <p:cNvSpPr/>
          <p:nvPr/>
        </p:nvSpPr>
        <p:spPr bwMode="auto">
          <a:xfrm>
            <a:off x="11109960" y="5568696"/>
            <a:ext cx="502920" cy="16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624170313" name="TextBox 41"/>
          <p:cNvSpPr txBox="1"/>
          <p:nvPr/>
        </p:nvSpPr>
        <p:spPr bwMode="auto">
          <a:xfrm>
            <a:off x="11109960" y="5751576"/>
            <a:ext cx="2514960" cy="73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Conclusiones del proyecto</a:t>
            </a:r>
            <a:endParaRPr lang="es-ES"/>
          </a:p>
        </p:txBody>
      </p:sp>
      <p:sp>
        <p:nvSpPr>
          <p:cNvPr id="1404813842" name="Rounded Rectangle 42"/>
          <p:cNvSpPr/>
          <p:nvPr/>
        </p:nvSpPr>
        <p:spPr bwMode="auto">
          <a:xfrm>
            <a:off x="14109192" y="4636008"/>
            <a:ext cx="3127248" cy="21488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012807810" name="TextBox 43"/>
          <p:cNvSpPr txBox="1"/>
          <p:nvPr/>
        </p:nvSpPr>
        <p:spPr bwMode="auto">
          <a:xfrm>
            <a:off x="14420088" y="4928616"/>
            <a:ext cx="109764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7CCCF3"/>
                </a:solidFill>
                <a:latin typeface="Calibri"/>
              </a:rPr>
              <a:t>10</a:t>
            </a:r>
            <a:endParaRPr lang="es-ES"/>
          </a:p>
        </p:txBody>
      </p:sp>
      <p:sp>
        <p:nvSpPr>
          <p:cNvPr id="399861504" name="Rectangle 44"/>
          <p:cNvSpPr/>
          <p:nvPr/>
        </p:nvSpPr>
        <p:spPr bwMode="auto">
          <a:xfrm>
            <a:off x="14420088" y="5568696"/>
            <a:ext cx="502920" cy="16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760567619" name="TextBox 45"/>
          <p:cNvSpPr txBox="1"/>
          <p:nvPr/>
        </p:nvSpPr>
        <p:spPr bwMode="auto">
          <a:xfrm>
            <a:off x="14420088" y="5751576"/>
            <a:ext cx="2514960" cy="3684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Recomendaciones</a:t>
            </a:r>
            <a:endParaRPr lang="es-ES"/>
          </a:p>
        </p:txBody>
      </p:sp>
      <p:sp>
        <p:nvSpPr>
          <p:cNvPr id="934827470" name="Rounded Rectangle 46"/>
          <p:cNvSpPr/>
          <p:nvPr/>
        </p:nvSpPr>
        <p:spPr bwMode="auto">
          <a:xfrm>
            <a:off x="868680" y="7031736"/>
            <a:ext cx="3127248" cy="21488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96479690" name="TextBox 47"/>
          <p:cNvSpPr txBox="1"/>
          <p:nvPr/>
        </p:nvSpPr>
        <p:spPr bwMode="auto">
          <a:xfrm>
            <a:off x="1179576" y="7324344"/>
            <a:ext cx="109764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7CCCF3"/>
                </a:solidFill>
                <a:latin typeface="Calibri"/>
              </a:rPr>
              <a:t>11</a:t>
            </a:r>
            <a:endParaRPr lang="es-ES"/>
          </a:p>
        </p:txBody>
      </p:sp>
      <p:sp>
        <p:nvSpPr>
          <p:cNvPr id="907624798" name="Rectangle 48"/>
          <p:cNvSpPr/>
          <p:nvPr/>
        </p:nvSpPr>
        <p:spPr bwMode="auto">
          <a:xfrm>
            <a:off x="1179576" y="7964424"/>
            <a:ext cx="502920" cy="16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096163608" name="TextBox 49"/>
          <p:cNvSpPr txBox="1"/>
          <p:nvPr/>
        </p:nvSpPr>
        <p:spPr bwMode="auto">
          <a:xfrm>
            <a:off x="1179576" y="8147304"/>
            <a:ext cx="2514960" cy="73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Objetivo del estudiante</a:t>
            </a:r>
            <a:endParaRPr lang="es-ES"/>
          </a:p>
        </p:txBody>
      </p:sp>
      <p:sp>
        <p:nvSpPr>
          <p:cNvPr id="380153696" name="Rounded Rectangle 50"/>
          <p:cNvSpPr/>
          <p:nvPr/>
        </p:nvSpPr>
        <p:spPr bwMode="auto">
          <a:xfrm>
            <a:off x="4178808" y="7031736"/>
            <a:ext cx="3127248" cy="21488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465618276" name="TextBox 51"/>
          <p:cNvSpPr txBox="1"/>
          <p:nvPr/>
        </p:nvSpPr>
        <p:spPr bwMode="auto">
          <a:xfrm>
            <a:off x="4489704" y="7324344"/>
            <a:ext cx="109764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7CCCF3"/>
                </a:solidFill>
                <a:latin typeface="Calibri"/>
              </a:rPr>
              <a:t>12</a:t>
            </a:r>
            <a:endParaRPr lang="es-ES"/>
          </a:p>
        </p:txBody>
      </p:sp>
      <p:sp>
        <p:nvSpPr>
          <p:cNvPr id="577524674" name="Rectangle 52"/>
          <p:cNvSpPr/>
          <p:nvPr/>
        </p:nvSpPr>
        <p:spPr bwMode="auto">
          <a:xfrm>
            <a:off x="4489704" y="7964424"/>
            <a:ext cx="502920" cy="16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26245876" name="TextBox 53"/>
          <p:cNvSpPr txBox="1"/>
          <p:nvPr/>
        </p:nvSpPr>
        <p:spPr bwMode="auto">
          <a:xfrm>
            <a:off x="4489704" y="8147304"/>
            <a:ext cx="2514960" cy="73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Evidencias del trabajo en equipo</a:t>
            </a:r>
            <a:endParaRPr lang="es-ES"/>
          </a:p>
        </p:txBody>
      </p:sp>
      <p:sp>
        <p:nvSpPr>
          <p:cNvPr id="2112310816" name="Rounded Rectangle 54"/>
          <p:cNvSpPr/>
          <p:nvPr/>
        </p:nvSpPr>
        <p:spPr bwMode="auto">
          <a:xfrm>
            <a:off x="7488936" y="7031736"/>
            <a:ext cx="3127248" cy="21488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37857175" name="TextBox 55"/>
          <p:cNvSpPr txBox="1"/>
          <p:nvPr/>
        </p:nvSpPr>
        <p:spPr bwMode="auto">
          <a:xfrm>
            <a:off x="7799832" y="7324344"/>
            <a:ext cx="109764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7CCCF3"/>
                </a:solidFill>
                <a:latin typeface="Calibri"/>
              </a:rPr>
              <a:t>13</a:t>
            </a:r>
            <a:endParaRPr lang="es-ES"/>
          </a:p>
        </p:txBody>
      </p:sp>
      <p:sp>
        <p:nvSpPr>
          <p:cNvPr id="535858915" name="Rectangle 56"/>
          <p:cNvSpPr/>
          <p:nvPr/>
        </p:nvSpPr>
        <p:spPr bwMode="auto">
          <a:xfrm>
            <a:off x="7799832" y="7964424"/>
            <a:ext cx="502920" cy="16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740054350" name="TextBox 57"/>
          <p:cNvSpPr txBox="1"/>
          <p:nvPr/>
        </p:nvSpPr>
        <p:spPr bwMode="auto">
          <a:xfrm>
            <a:off x="7799832" y="8147304"/>
            <a:ext cx="2514960" cy="73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Repositorio y referencias técnicas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34814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03321404" name="TextBox 3"/>
          <p:cNvSpPr txBox="1"/>
          <p:nvPr/>
        </p:nvSpPr>
        <p:spPr bwMode="auto">
          <a:xfrm>
            <a:off x="822960" y="502920"/>
            <a:ext cx="16642440" cy="96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/>
            </a:pPr>
            <a:r>
              <a:rPr lang="es-ES" sz="6000" b="1" i="0">
                <a:solidFill>
                  <a:srgbClr val="E2D6BE"/>
                </a:solidFill>
                <a:latin typeface="Georgia"/>
              </a:rPr>
              <a:t>INTRODUCCIÓN</a:t>
            </a:r>
            <a:endParaRPr lang="es-ES"/>
          </a:p>
        </p:txBody>
      </p:sp>
      <p:sp>
        <p:nvSpPr>
          <p:cNvPr id="223489550" name="Rounded Rectangle 4"/>
          <p:cNvSpPr/>
          <p:nvPr/>
        </p:nvSpPr>
        <p:spPr bwMode="auto">
          <a:xfrm>
            <a:off x="868680" y="2011680"/>
            <a:ext cx="5394960" cy="676656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429312674" name="TextBox 5"/>
          <p:cNvSpPr txBox="1"/>
          <p:nvPr/>
        </p:nvSpPr>
        <p:spPr bwMode="auto">
          <a:xfrm>
            <a:off x="1252728" y="2377440"/>
            <a:ext cx="4618080" cy="466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550" b="1" i="0">
                <a:solidFill>
                  <a:srgbClr val="A8DADC"/>
                </a:solidFill>
                <a:latin typeface="Calibri"/>
              </a:rPr>
              <a:t>PROPÓSITO</a:t>
            </a:r>
            <a:endParaRPr lang="es-ES"/>
          </a:p>
        </p:txBody>
      </p:sp>
      <p:sp>
        <p:nvSpPr>
          <p:cNvPr id="1477101816" name="TextBox 6"/>
          <p:cNvSpPr txBox="1"/>
          <p:nvPr/>
        </p:nvSpPr>
        <p:spPr bwMode="auto">
          <a:xfrm>
            <a:off x="1252728" y="3017519"/>
            <a:ext cx="4618080" cy="21606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Aplicar los principios de la programación orientada a objetos para plantear una solución a un proceso real de una empresa: el control de horas extras y horas compensadas.</a:t>
            </a:r>
            <a:endParaRPr lang="es-ES"/>
          </a:p>
        </p:txBody>
      </p:sp>
      <p:sp>
        <p:nvSpPr>
          <p:cNvPr id="52020480" name="Rounded Rectangle 7"/>
          <p:cNvSpPr/>
          <p:nvPr/>
        </p:nvSpPr>
        <p:spPr bwMode="auto">
          <a:xfrm>
            <a:off x="6537960" y="2011680"/>
            <a:ext cx="5394960" cy="676656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953043538" name="TextBox 8"/>
          <p:cNvSpPr txBox="1"/>
          <p:nvPr/>
        </p:nvSpPr>
        <p:spPr bwMode="auto">
          <a:xfrm>
            <a:off x="6922008" y="2377440"/>
            <a:ext cx="4618080" cy="466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550" b="1" i="0">
                <a:solidFill>
                  <a:srgbClr val="A8DADC"/>
                </a:solidFill>
                <a:latin typeface="Calibri"/>
              </a:rPr>
              <a:t>PROBLEMA SELECCIONADO</a:t>
            </a:r>
            <a:endParaRPr lang="es-ES"/>
          </a:p>
        </p:txBody>
      </p:sp>
      <p:sp>
        <p:nvSpPr>
          <p:cNvPr id="2066573619" name="TextBox 9"/>
          <p:cNvSpPr txBox="1"/>
          <p:nvPr/>
        </p:nvSpPr>
        <p:spPr bwMode="auto">
          <a:xfrm>
            <a:off x="6922008" y="3017519"/>
            <a:ext cx="4618080" cy="21606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El registro se realiza en cuadernos y archivos Excel, lo que genera duplicidad de información, errores de transcripción y dificultad para consultar el estado de las solicitudes.</a:t>
            </a:r>
            <a:endParaRPr lang="es-ES"/>
          </a:p>
        </p:txBody>
      </p:sp>
      <p:sp>
        <p:nvSpPr>
          <p:cNvPr id="1428889678" name="Rounded Rectangle 10"/>
          <p:cNvSpPr/>
          <p:nvPr/>
        </p:nvSpPr>
        <p:spPr bwMode="auto">
          <a:xfrm>
            <a:off x="12207240" y="2011680"/>
            <a:ext cx="5394960" cy="676656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551487617" name="TextBox 11"/>
          <p:cNvSpPr txBox="1"/>
          <p:nvPr/>
        </p:nvSpPr>
        <p:spPr bwMode="auto">
          <a:xfrm>
            <a:off x="12591288" y="2377440"/>
            <a:ext cx="4618080" cy="466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550" b="1" i="0">
                <a:solidFill>
                  <a:srgbClr val="A8DADC"/>
                </a:solidFill>
                <a:latin typeface="Calibri"/>
              </a:rPr>
              <a:t>PROPUESTA</a:t>
            </a:r>
            <a:endParaRPr lang="es-ES"/>
          </a:p>
        </p:txBody>
      </p:sp>
      <p:sp>
        <p:nvSpPr>
          <p:cNvPr id="1237237638" name="TextBox 12"/>
          <p:cNvSpPr txBox="1"/>
          <p:nvPr/>
        </p:nvSpPr>
        <p:spPr bwMode="auto">
          <a:xfrm>
            <a:off x="12591288" y="3017519"/>
            <a:ext cx="4618080" cy="25926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Una aplicación de consola en Python que permita registrar, aprobar, calcular y reportar las horas, desarrollado con clases, herencia, polimorfismo, colecciones, excepciones y pruebas unitarias.</a:t>
            </a:r>
            <a:endParaRPr lang="es-ES"/>
          </a:p>
        </p:txBody>
      </p:sp>
      <p:sp>
        <p:nvSpPr>
          <p:cNvPr id="1646580341" name="TextBox 13"/>
          <p:cNvSpPr txBox="1"/>
          <p:nvPr/>
        </p:nvSpPr>
        <p:spPr bwMode="auto">
          <a:xfrm>
            <a:off x="868680" y="9144000"/>
            <a:ext cx="1645956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0" i="1">
                <a:solidFill>
                  <a:srgbClr val="9AB4BE"/>
                </a:solidFill>
                <a:latin typeface="Calibri"/>
              </a:rPr>
              <a:t>El sistema modela el dominio con tres jerarquías: Persona, RegistroHora y Solicitud.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631847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51451712" name="TextBox 3"/>
          <p:cNvSpPr txBox="1"/>
          <p:nvPr/>
        </p:nvSpPr>
        <p:spPr bwMode="auto">
          <a:xfrm>
            <a:off x="822960" y="457200"/>
            <a:ext cx="16642440" cy="16325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/>
            </a:pPr>
            <a:r>
              <a:rPr lang="es-ES" sz="5100" b="1" i="0">
                <a:solidFill>
                  <a:srgbClr val="E2D6BE"/>
                </a:solidFill>
                <a:latin typeface="Georgia"/>
              </a:rPr>
              <a:t>SITUACIÓN ACTUAL Y ANÁLISIS DEL PROBLEMA</a:t>
            </a:r>
            <a:endParaRPr lang="es-ES"/>
          </a:p>
        </p:txBody>
      </p:sp>
      <p:sp>
        <p:nvSpPr>
          <p:cNvPr id="1211378069" name="Rounded Rectangle 4"/>
          <p:cNvSpPr/>
          <p:nvPr/>
        </p:nvSpPr>
        <p:spPr bwMode="auto">
          <a:xfrm>
            <a:off x="868680" y="1783080"/>
            <a:ext cx="8138160" cy="39319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607295068" name="TextBox 5"/>
          <p:cNvSpPr txBox="1"/>
          <p:nvPr/>
        </p:nvSpPr>
        <p:spPr bwMode="auto">
          <a:xfrm>
            <a:off x="1280160" y="2103120"/>
            <a:ext cx="7315559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Georgia"/>
              </a:rPr>
              <a:t>SITUACIÓN ACTUAL</a:t>
            </a:r>
            <a:endParaRPr lang="es-ES"/>
          </a:p>
        </p:txBody>
      </p:sp>
      <p:sp>
        <p:nvSpPr>
          <p:cNvPr id="1914979411" name="TextBox 6"/>
          <p:cNvSpPr txBox="1"/>
          <p:nvPr/>
        </p:nvSpPr>
        <p:spPr bwMode="auto">
          <a:xfrm>
            <a:off x="1280160" y="2697480"/>
            <a:ext cx="7315559" cy="2496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El trabajador registra las horas en un cuaderno y luego el área las traslada a Excel. El responsable revisa lo reportado y aprueba o rechaza; las aprobadas se calculan para el pago y las rechazadas se descartan. El traslado manual entre medios genera errores de registro, duplicidad y dificultad para consultar el estado de cada solicitud.</a:t>
            </a:r>
            <a:endParaRPr lang="es-ES"/>
          </a:p>
        </p:txBody>
      </p:sp>
      <p:sp>
        <p:nvSpPr>
          <p:cNvPr id="707091760" name="Rounded Rectangle 7"/>
          <p:cNvSpPr/>
          <p:nvPr/>
        </p:nvSpPr>
        <p:spPr bwMode="auto">
          <a:xfrm>
            <a:off x="9281160" y="1783080"/>
            <a:ext cx="8138160" cy="39319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880475064" name="TextBox 8"/>
          <p:cNvSpPr txBox="1"/>
          <p:nvPr/>
        </p:nvSpPr>
        <p:spPr bwMode="auto">
          <a:xfrm>
            <a:off x="9692640" y="2103120"/>
            <a:ext cx="7315559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Georgia"/>
              </a:rPr>
              <a:t>PROBLEMA</a:t>
            </a:r>
            <a:endParaRPr lang="es-ES"/>
          </a:p>
        </p:txBody>
      </p:sp>
      <p:sp>
        <p:nvSpPr>
          <p:cNvPr id="1106083985" name="TextBox 9"/>
          <p:cNvSpPr txBox="1"/>
          <p:nvPr/>
        </p:nvSpPr>
        <p:spPr bwMode="auto">
          <a:xfrm>
            <a:off x="9692640" y="2697480"/>
            <a:ext cx="7315559" cy="12485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La empresa no cuenta con una herramienta única que permita registrar, controlar, aprobar y calcular de manera uniforme las horas extras ni las horas compensadas de sus empleados.</a:t>
            </a:r>
            <a:endParaRPr lang="es-ES"/>
          </a:p>
        </p:txBody>
      </p:sp>
      <p:sp>
        <p:nvSpPr>
          <p:cNvPr id="809837836" name="TextBox 10"/>
          <p:cNvSpPr txBox="1"/>
          <p:nvPr/>
        </p:nvSpPr>
        <p:spPr bwMode="auto">
          <a:xfrm>
            <a:off x="868680" y="6080760"/>
            <a:ext cx="9144360" cy="466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550" b="1" i="0">
                <a:solidFill>
                  <a:srgbClr val="A8DADC"/>
                </a:solidFill>
                <a:latin typeface="Georgia"/>
              </a:rPr>
              <a:t>CAUSAS IDENTIFICADAS</a:t>
            </a:r>
            <a:endParaRPr lang="es-ES"/>
          </a:p>
        </p:txBody>
      </p:sp>
      <p:sp>
        <p:nvSpPr>
          <p:cNvPr id="1412762958" name="Rounded Rectangle 11"/>
          <p:cNvSpPr/>
          <p:nvPr/>
        </p:nvSpPr>
        <p:spPr bwMode="auto">
          <a:xfrm>
            <a:off x="868680" y="6720840"/>
            <a:ext cx="8001000" cy="13716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921010652" name="TextBox 12"/>
          <p:cNvSpPr txBox="1"/>
          <p:nvPr/>
        </p:nvSpPr>
        <p:spPr bwMode="auto">
          <a:xfrm>
            <a:off x="1252728" y="7104888"/>
            <a:ext cx="91476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A8DADC"/>
                </a:solidFill>
                <a:latin typeface="Calibri"/>
              </a:rPr>
              <a:t>C1</a:t>
            </a:r>
            <a:endParaRPr lang="es-ES"/>
          </a:p>
        </p:txBody>
      </p:sp>
      <p:sp>
        <p:nvSpPr>
          <p:cNvPr id="2081445300" name="TextBox 13"/>
          <p:cNvSpPr txBox="1"/>
          <p:nvPr/>
        </p:nvSpPr>
        <p:spPr bwMode="auto">
          <a:xfrm>
            <a:off x="2240280" y="7040880"/>
            <a:ext cx="6264000" cy="4004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El registro se hace en papel y se centraliza a fin de mes.</a:t>
            </a:r>
            <a:endParaRPr lang="es-ES"/>
          </a:p>
        </p:txBody>
      </p:sp>
      <p:sp>
        <p:nvSpPr>
          <p:cNvPr id="2091608428" name="Rounded Rectangle 14"/>
          <p:cNvSpPr/>
          <p:nvPr/>
        </p:nvSpPr>
        <p:spPr bwMode="auto">
          <a:xfrm>
            <a:off x="9418320" y="6720840"/>
            <a:ext cx="8001000" cy="13716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323725614" name="TextBox 15"/>
          <p:cNvSpPr txBox="1"/>
          <p:nvPr/>
        </p:nvSpPr>
        <p:spPr bwMode="auto">
          <a:xfrm>
            <a:off x="9802368" y="7104888"/>
            <a:ext cx="91476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A8DADC"/>
                </a:solidFill>
                <a:latin typeface="Calibri"/>
              </a:rPr>
              <a:t>C2</a:t>
            </a:r>
            <a:endParaRPr lang="es-ES"/>
          </a:p>
        </p:txBody>
      </p:sp>
      <p:sp>
        <p:nvSpPr>
          <p:cNvPr id="312123282" name="TextBox 16"/>
          <p:cNvSpPr txBox="1"/>
          <p:nvPr/>
        </p:nvSpPr>
        <p:spPr bwMode="auto">
          <a:xfrm>
            <a:off x="10789920" y="7040880"/>
            <a:ext cx="6264000" cy="800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No existe un repositorio común entre el área usuaria y Recursos Humanos.</a:t>
            </a:r>
            <a:endParaRPr lang="es-ES"/>
          </a:p>
        </p:txBody>
      </p:sp>
      <p:sp>
        <p:nvSpPr>
          <p:cNvPr id="2121105951" name="Rounded Rectangle 17"/>
          <p:cNvSpPr/>
          <p:nvPr/>
        </p:nvSpPr>
        <p:spPr bwMode="auto">
          <a:xfrm>
            <a:off x="868680" y="8321039"/>
            <a:ext cx="8001000" cy="13716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819745135" name="TextBox 18"/>
          <p:cNvSpPr txBox="1"/>
          <p:nvPr/>
        </p:nvSpPr>
        <p:spPr bwMode="auto">
          <a:xfrm>
            <a:off x="1252728" y="8705088"/>
            <a:ext cx="91476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A8DADC"/>
                </a:solidFill>
                <a:latin typeface="Calibri"/>
              </a:rPr>
              <a:t>C3</a:t>
            </a:r>
            <a:endParaRPr lang="es-ES"/>
          </a:p>
        </p:txBody>
      </p:sp>
      <p:sp>
        <p:nvSpPr>
          <p:cNvPr id="1210512320" name="TextBox 19"/>
          <p:cNvSpPr txBox="1"/>
          <p:nvPr/>
        </p:nvSpPr>
        <p:spPr bwMode="auto">
          <a:xfrm>
            <a:off x="2240280" y="8641080"/>
            <a:ext cx="6264000" cy="800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Los datos se transcriben manualmente de un medio a otro.</a:t>
            </a:r>
            <a:endParaRPr lang="es-ES"/>
          </a:p>
        </p:txBody>
      </p:sp>
      <p:sp>
        <p:nvSpPr>
          <p:cNvPr id="2008335617" name="Rounded Rectangle 20"/>
          <p:cNvSpPr/>
          <p:nvPr/>
        </p:nvSpPr>
        <p:spPr bwMode="auto">
          <a:xfrm>
            <a:off x="9418320" y="8321039"/>
            <a:ext cx="8001000" cy="13716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325387343" name="TextBox 21"/>
          <p:cNvSpPr txBox="1"/>
          <p:nvPr/>
        </p:nvSpPr>
        <p:spPr bwMode="auto">
          <a:xfrm>
            <a:off x="9802368" y="8705088"/>
            <a:ext cx="914760" cy="548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000" b="1" i="0">
                <a:solidFill>
                  <a:srgbClr val="A8DADC"/>
                </a:solidFill>
                <a:latin typeface="Calibri"/>
              </a:rPr>
              <a:t>C4</a:t>
            </a:r>
            <a:endParaRPr lang="es-ES"/>
          </a:p>
        </p:txBody>
      </p:sp>
      <p:sp>
        <p:nvSpPr>
          <p:cNvPr id="1625025091" name="TextBox 22"/>
          <p:cNvSpPr txBox="1"/>
          <p:nvPr/>
        </p:nvSpPr>
        <p:spPr bwMode="auto">
          <a:xfrm>
            <a:off x="10789920" y="8641080"/>
            <a:ext cx="6264000" cy="800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No hay validación de rangos ni de saldos al momento de registrar.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681928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719563547" name="TextBox 3"/>
          <p:cNvSpPr txBox="1"/>
          <p:nvPr/>
        </p:nvSpPr>
        <p:spPr bwMode="auto">
          <a:xfrm>
            <a:off x="822960" y="457200"/>
            <a:ext cx="16642440" cy="96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/>
            </a:pPr>
            <a:r>
              <a:rPr lang="es-ES" sz="6000" b="1" i="0">
                <a:solidFill>
                  <a:srgbClr val="E2D6BE"/>
                </a:solidFill>
                <a:latin typeface="Georgia"/>
              </a:rPr>
              <a:t>OBJETIVO DEL SISTEMA</a:t>
            </a:r>
            <a:endParaRPr lang="es-ES"/>
          </a:p>
        </p:txBody>
      </p:sp>
      <p:sp>
        <p:nvSpPr>
          <p:cNvPr id="2115969185" name="Rounded Rectangle 4"/>
          <p:cNvSpPr/>
          <p:nvPr/>
        </p:nvSpPr>
        <p:spPr bwMode="auto">
          <a:xfrm>
            <a:off x="868680" y="1783080"/>
            <a:ext cx="16550640" cy="18288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490657536" name="TextBox 5"/>
          <p:cNvSpPr txBox="1"/>
          <p:nvPr/>
        </p:nvSpPr>
        <p:spPr bwMode="auto">
          <a:xfrm>
            <a:off x="1280160" y="1847289"/>
            <a:ext cx="15728040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Georgia"/>
              </a:rPr>
              <a:t>OBJETIVO GENERAL</a:t>
            </a:r>
            <a:endParaRPr lang="es-ES"/>
          </a:p>
        </p:txBody>
      </p:sp>
      <p:sp>
        <p:nvSpPr>
          <p:cNvPr id="546629274" name="TextBox 6"/>
          <p:cNvSpPr txBox="1"/>
          <p:nvPr/>
        </p:nvSpPr>
        <p:spPr bwMode="auto">
          <a:xfrm>
            <a:off x="1280160" y="2395929"/>
            <a:ext cx="15728040" cy="13079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200" b="0" i="0">
                <a:solidFill>
                  <a:srgbClr val="F0F4F6"/>
                </a:solidFill>
                <a:latin typeface="Calibri"/>
              </a:rPr>
              <a:t>Desarrollar una aplicación de consola en Python que permita gestionar y controlar las horas extras y compensadas de los empleados de Fábrica Marsar SRL: registrar horas, revisarlas y aprobarlas, calcular su valor y mantener actualizado el saldo de horas compensadas de cada empleado.</a:t>
            </a:r>
            <a:endParaRPr lang="es-ES"/>
          </a:p>
        </p:txBody>
      </p:sp>
      <p:sp>
        <p:nvSpPr>
          <p:cNvPr id="668986402" name="TextBox 7"/>
          <p:cNvSpPr txBox="1"/>
          <p:nvPr/>
        </p:nvSpPr>
        <p:spPr bwMode="auto">
          <a:xfrm>
            <a:off x="868680" y="3977638"/>
            <a:ext cx="9144360" cy="466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550" b="1" i="0">
                <a:solidFill>
                  <a:srgbClr val="A8DADC"/>
                </a:solidFill>
                <a:latin typeface="Georgia"/>
              </a:rPr>
              <a:t>OBJETIVOS ESPECÍFICOS</a:t>
            </a:r>
            <a:endParaRPr lang="es-ES"/>
          </a:p>
        </p:txBody>
      </p:sp>
      <p:sp>
        <p:nvSpPr>
          <p:cNvPr id="912879706" name="Rounded Rectangle 8"/>
          <p:cNvSpPr/>
          <p:nvPr/>
        </p:nvSpPr>
        <p:spPr bwMode="auto">
          <a:xfrm>
            <a:off x="868680" y="4617720"/>
            <a:ext cx="8001000" cy="10972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300010326" name="TextBox 9"/>
          <p:cNvSpPr txBox="1"/>
          <p:nvPr/>
        </p:nvSpPr>
        <p:spPr bwMode="auto">
          <a:xfrm>
            <a:off x="1234440" y="4910328"/>
            <a:ext cx="1097640" cy="41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50" b="1" i="0">
                <a:solidFill>
                  <a:srgbClr val="A8DADC"/>
                </a:solidFill>
                <a:latin typeface="Calibri"/>
              </a:rPr>
              <a:t>OE1</a:t>
            </a:r>
            <a:endParaRPr lang="es-ES"/>
          </a:p>
        </p:txBody>
      </p:sp>
      <p:sp>
        <p:nvSpPr>
          <p:cNvPr id="1865715891" name="TextBox 10"/>
          <p:cNvSpPr txBox="1"/>
          <p:nvPr/>
        </p:nvSpPr>
        <p:spPr bwMode="auto">
          <a:xfrm>
            <a:off x="2331720" y="4837176"/>
            <a:ext cx="6218280" cy="750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Registrar y mantener actualizados los datos de los empleados.</a:t>
            </a:r>
            <a:endParaRPr lang="es-ES"/>
          </a:p>
        </p:txBody>
      </p:sp>
      <p:sp>
        <p:nvSpPr>
          <p:cNvPr id="2134694352" name="Rounded Rectangle 11"/>
          <p:cNvSpPr/>
          <p:nvPr/>
        </p:nvSpPr>
        <p:spPr bwMode="auto">
          <a:xfrm>
            <a:off x="9418320" y="4617720"/>
            <a:ext cx="8001000" cy="10972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06400553" name="TextBox 12"/>
          <p:cNvSpPr txBox="1"/>
          <p:nvPr/>
        </p:nvSpPr>
        <p:spPr bwMode="auto">
          <a:xfrm>
            <a:off x="9784079" y="4910328"/>
            <a:ext cx="1097640" cy="41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50" b="1" i="0">
                <a:solidFill>
                  <a:srgbClr val="A8DADC"/>
                </a:solidFill>
                <a:latin typeface="Calibri"/>
              </a:rPr>
              <a:t>OE2</a:t>
            </a:r>
            <a:endParaRPr lang="es-ES"/>
          </a:p>
        </p:txBody>
      </p:sp>
      <p:sp>
        <p:nvSpPr>
          <p:cNvPr id="570717773" name="TextBox 13"/>
          <p:cNvSpPr txBox="1"/>
          <p:nvPr/>
        </p:nvSpPr>
        <p:spPr bwMode="auto">
          <a:xfrm>
            <a:off x="10881360" y="4837176"/>
            <a:ext cx="6218280" cy="750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Registrar solicitudes de horas extras con fecha, cantidad de horas y motivo.</a:t>
            </a:r>
            <a:endParaRPr lang="es-ES"/>
          </a:p>
        </p:txBody>
      </p:sp>
      <p:sp>
        <p:nvSpPr>
          <p:cNvPr id="1613995493" name="Rounded Rectangle 14"/>
          <p:cNvSpPr/>
          <p:nvPr/>
        </p:nvSpPr>
        <p:spPr bwMode="auto">
          <a:xfrm>
            <a:off x="868680" y="5943600"/>
            <a:ext cx="8001000" cy="10972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697732141" name="TextBox 15"/>
          <p:cNvSpPr txBox="1"/>
          <p:nvPr/>
        </p:nvSpPr>
        <p:spPr bwMode="auto">
          <a:xfrm>
            <a:off x="1234440" y="6236208"/>
            <a:ext cx="1097640" cy="41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50" b="1" i="0">
                <a:solidFill>
                  <a:srgbClr val="A8DADC"/>
                </a:solidFill>
                <a:latin typeface="Calibri"/>
              </a:rPr>
              <a:t>OE3</a:t>
            </a:r>
            <a:endParaRPr lang="es-ES"/>
          </a:p>
        </p:txBody>
      </p:sp>
      <p:sp>
        <p:nvSpPr>
          <p:cNvPr id="1491312005" name="TextBox 16"/>
          <p:cNvSpPr txBox="1"/>
          <p:nvPr/>
        </p:nvSpPr>
        <p:spPr bwMode="auto">
          <a:xfrm>
            <a:off x="2331720" y="6163056"/>
            <a:ext cx="6218280" cy="750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Permitir al responsable del área revisar, aprobar o rechazar los registros.</a:t>
            </a:r>
            <a:endParaRPr lang="es-ES"/>
          </a:p>
        </p:txBody>
      </p:sp>
      <p:sp>
        <p:nvSpPr>
          <p:cNvPr id="1175564238" name="Rounded Rectangle 17"/>
          <p:cNvSpPr/>
          <p:nvPr/>
        </p:nvSpPr>
        <p:spPr bwMode="auto">
          <a:xfrm>
            <a:off x="9418320" y="5943600"/>
            <a:ext cx="8001000" cy="10972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47862929" name="TextBox 18"/>
          <p:cNvSpPr txBox="1"/>
          <p:nvPr/>
        </p:nvSpPr>
        <p:spPr bwMode="auto">
          <a:xfrm>
            <a:off x="9784079" y="6236208"/>
            <a:ext cx="1097640" cy="41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50" b="1" i="0">
                <a:solidFill>
                  <a:srgbClr val="A8DADC"/>
                </a:solidFill>
                <a:latin typeface="Calibri"/>
              </a:rPr>
              <a:t>OE4</a:t>
            </a:r>
            <a:endParaRPr lang="es-ES"/>
          </a:p>
        </p:txBody>
      </p:sp>
      <p:sp>
        <p:nvSpPr>
          <p:cNvPr id="624492239" name="TextBox 19"/>
          <p:cNvSpPr txBox="1"/>
          <p:nvPr/>
        </p:nvSpPr>
        <p:spPr bwMode="auto">
          <a:xfrm>
            <a:off x="10881360" y="6163056"/>
            <a:ext cx="6218280" cy="750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Calcular el valor de las horas extras aprobadas según las reglas del sistema.</a:t>
            </a:r>
            <a:endParaRPr lang="es-ES"/>
          </a:p>
        </p:txBody>
      </p:sp>
      <p:sp>
        <p:nvSpPr>
          <p:cNvPr id="974456577" name="Rounded Rectangle 20"/>
          <p:cNvSpPr/>
          <p:nvPr/>
        </p:nvSpPr>
        <p:spPr bwMode="auto">
          <a:xfrm>
            <a:off x="868680" y="7269480"/>
            <a:ext cx="8001000" cy="10972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871715129" name="TextBox 21"/>
          <p:cNvSpPr txBox="1"/>
          <p:nvPr/>
        </p:nvSpPr>
        <p:spPr bwMode="auto">
          <a:xfrm>
            <a:off x="1234440" y="7562088"/>
            <a:ext cx="1097640" cy="41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50" b="1" i="0">
                <a:solidFill>
                  <a:srgbClr val="A8DADC"/>
                </a:solidFill>
                <a:latin typeface="Calibri"/>
              </a:rPr>
              <a:t>OE5</a:t>
            </a:r>
            <a:endParaRPr lang="es-ES"/>
          </a:p>
        </p:txBody>
      </p:sp>
      <p:sp>
        <p:nvSpPr>
          <p:cNvPr id="27653457" name="TextBox 22"/>
          <p:cNvSpPr txBox="1"/>
          <p:nvPr/>
        </p:nvSpPr>
        <p:spPr bwMode="auto">
          <a:xfrm>
            <a:off x="2331720" y="7488936"/>
            <a:ext cx="6218280" cy="750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Registrar las horas compensadas y mantener actualizado el saldo disponible.</a:t>
            </a:r>
            <a:endParaRPr lang="es-ES"/>
          </a:p>
        </p:txBody>
      </p:sp>
      <p:sp>
        <p:nvSpPr>
          <p:cNvPr id="1396715415" name="Rounded Rectangle 23"/>
          <p:cNvSpPr/>
          <p:nvPr/>
        </p:nvSpPr>
        <p:spPr bwMode="auto">
          <a:xfrm>
            <a:off x="9418320" y="7269480"/>
            <a:ext cx="8001000" cy="10972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870525455" name="TextBox 24"/>
          <p:cNvSpPr txBox="1"/>
          <p:nvPr/>
        </p:nvSpPr>
        <p:spPr bwMode="auto">
          <a:xfrm>
            <a:off x="9784079" y="7562088"/>
            <a:ext cx="1097640" cy="41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50" b="1" i="0">
                <a:solidFill>
                  <a:srgbClr val="A8DADC"/>
                </a:solidFill>
                <a:latin typeface="Calibri"/>
              </a:rPr>
              <a:t>OE6</a:t>
            </a:r>
            <a:endParaRPr lang="es-ES"/>
          </a:p>
        </p:txBody>
      </p:sp>
      <p:sp>
        <p:nvSpPr>
          <p:cNvPr id="524479231" name="TextBox 25"/>
          <p:cNvSpPr txBox="1"/>
          <p:nvPr/>
        </p:nvSpPr>
        <p:spPr bwMode="auto">
          <a:xfrm>
            <a:off x="10881360" y="7488936"/>
            <a:ext cx="6218280" cy="750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Permitir utilizar horas compensadas validando saldo suficiente.</a:t>
            </a:r>
            <a:endParaRPr lang="es-ES"/>
          </a:p>
        </p:txBody>
      </p:sp>
      <p:sp>
        <p:nvSpPr>
          <p:cNvPr id="2002501578" name="Rounded Rectangle 26"/>
          <p:cNvSpPr/>
          <p:nvPr/>
        </p:nvSpPr>
        <p:spPr bwMode="auto">
          <a:xfrm>
            <a:off x="868680" y="8595360"/>
            <a:ext cx="8001000" cy="10972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442267655" name="TextBox 27"/>
          <p:cNvSpPr txBox="1"/>
          <p:nvPr/>
        </p:nvSpPr>
        <p:spPr bwMode="auto">
          <a:xfrm>
            <a:off x="1234440" y="8887968"/>
            <a:ext cx="1097640" cy="41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50" b="1" i="0">
                <a:solidFill>
                  <a:srgbClr val="A8DADC"/>
                </a:solidFill>
                <a:latin typeface="Calibri"/>
              </a:rPr>
              <a:t>OE7</a:t>
            </a:r>
            <a:endParaRPr lang="es-ES"/>
          </a:p>
        </p:txBody>
      </p:sp>
      <p:sp>
        <p:nvSpPr>
          <p:cNvPr id="1811356224" name="TextBox 28"/>
          <p:cNvSpPr txBox="1"/>
          <p:nvPr/>
        </p:nvSpPr>
        <p:spPr bwMode="auto">
          <a:xfrm>
            <a:off x="2331720" y="8814816"/>
            <a:ext cx="6218280" cy="750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Permitir consultar empleados, solicitudes, estados, historial y saldos.</a:t>
            </a:r>
            <a:endParaRPr lang="es-ES"/>
          </a:p>
        </p:txBody>
      </p:sp>
      <p:sp>
        <p:nvSpPr>
          <p:cNvPr id="1860062926" name="Rounded Rectangle 29"/>
          <p:cNvSpPr/>
          <p:nvPr/>
        </p:nvSpPr>
        <p:spPr bwMode="auto">
          <a:xfrm>
            <a:off x="9418320" y="8595360"/>
            <a:ext cx="8001000" cy="10972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10754780" name="TextBox 30"/>
          <p:cNvSpPr txBox="1"/>
          <p:nvPr/>
        </p:nvSpPr>
        <p:spPr bwMode="auto">
          <a:xfrm>
            <a:off x="9784079" y="8887968"/>
            <a:ext cx="1097640" cy="41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50" b="1" i="0">
                <a:solidFill>
                  <a:srgbClr val="A8DADC"/>
                </a:solidFill>
                <a:latin typeface="Calibri"/>
              </a:rPr>
              <a:t>OE8</a:t>
            </a:r>
            <a:endParaRPr lang="es-ES"/>
          </a:p>
        </p:txBody>
      </p:sp>
      <p:sp>
        <p:nvSpPr>
          <p:cNvPr id="322092002" name="TextBox 31"/>
          <p:cNvSpPr txBox="1"/>
          <p:nvPr/>
        </p:nvSpPr>
        <p:spPr bwMode="auto">
          <a:xfrm>
            <a:off x="10881360" y="8814816"/>
            <a:ext cx="6218280" cy="750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Validar los datos y controlar las situaciones no válidas con excepciones.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925196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127987089" name="TextBox 3"/>
          <p:cNvSpPr txBox="1"/>
          <p:nvPr/>
        </p:nvSpPr>
        <p:spPr bwMode="auto">
          <a:xfrm>
            <a:off x="822960" y="457200"/>
            <a:ext cx="16642440" cy="8644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/>
            </a:pPr>
            <a:r>
              <a:rPr lang="es-ES" sz="5400" b="1" i="0">
                <a:solidFill>
                  <a:srgbClr val="E2D6BE"/>
                </a:solidFill>
                <a:latin typeface="Georgia"/>
              </a:rPr>
              <a:t>HISTORIAS DE USUARIO PRIORIZADAS</a:t>
            </a:r>
            <a:endParaRPr lang="es-ES"/>
          </a:p>
        </p:txBody>
      </p:sp>
      <p:sp>
        <p:nvSpPr>
          <p:cNvPr id="894399988" name="TextBox 4"/>
          <p:cNvSpPr txBox="1"/>
          <p:nvPr/>
        </p:nvSpPr>
        <p:spPr bwMode="auto">
          <a:xfrm>
            <a:off x="868680" y="1371600"/>
            <a:ext cx="16551000" cy="891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250" b="0" i="0">
                <a:solidFill>
                  <a:srgbClr val="F0F4F6"/>
                </a:solidFill>
                <a:latin typeface="Calibri"/>
              </a:rPr>
              <a:t>Treces historias de usuario, priorizadas con MoSCoW, definen el alcance funcional del sistema y de las cuales se derivan los criterios de aceptación de cada método.</a:t>
            </a:r>
            <a:endParaRPr lang="es-ES"/>
          </a:p>
        </p:txBody>
      </p:sp>
      <p:sp>
        <p:nvSpPr>
          <p:cNvPr id="901663287" name="Rounded Rectangle 5"/>
          <p:cNvSpPr/>
          <p:nvPr/>
        </p:nvSpPr>
        <p:spPr bwMode="auto">
          <a:xfrm>
            <a:off x="868680" y="2377440"/>
            <a:ext cx="8001000" cy="9144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62270865" name="TextBox 6"/>
          <p:cNvSpPr txBox="1"/>
          <p:nvPr/>
        </p:nvSpPr>
        <p:spPr bwMode="auto">
          <a:xfrm>
            <a:off x="1161288" y="2615184"/>
            <a:ext cx="91476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HU01</a:t>
            </a:r>
            <a:endParaRPr lang="es-ES"/>
          </a:p>
        </p:txBody>
      </p:sp>
      <p:sp>
        <p:nvSpPr>
          <p:cNvPr id="147176006" name="TextBox 7"/>
          <p:cNvSpPr txBox="1"/>
          <p:nvPr/>
        </p:nvSpPr>
        <p:spPr bwMode="auto">
          <a:xfrm>
            <a:off x="2240280" y="2633472"/>
            <a:ext cx="5121000" cy="359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Registrar empleado</a:t>
            </a:r>
            <a:endParaRPr lang="es-ES"/>
          </a:p>
        </p:txBody>
      </p:sp>
      <p:sp>
        <p:nvSpPr>
          <p:cNvPr id="2021565581" name="TextBox 8"/>
          <p:cNvSpPr txBox="1"/>
          <p:nvPr/>
        </p:nvSpPr>
        <p:spPr bwMode="auto">
          <a:xfrm>
            <a:off x="7360920" y="2651760"/>
            <a:ext cx="1280520" cy="329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800" b="1" i="0">
                <a:solidFill>
                  <a:srgbClr val="A8DADC"/>
                </a:solidFill>
                <a:latin typeface="Calibri"/>
              </a:rPr>
              <a:t>Alta</a:t>
            </a:r>
            <a:endParaRPr lang="es-ES"/>
          </a:p>
        </p:txBody>
      </p:sp>
      <p:sp>
        <p:nvSpPr>
          <p:cNvPr id="189660775" name="Rounded Rectangle 9"/>
          <p:cNvSpPr/>
          <p:nvPr/>
        </p:nvSpPr>
        <p:spPr bwMode="auto">
          <a:xfrm>
            <a:off x="9418320" y="2377440"/>
            <a:ext cx="8001000" cy="9144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618883158" name="TextBox 10"/>
          <p:cNvSpPr txBox="1"/>
          <p:nvPr/>
        </p:nvSpPr>
        <p:spPr bwMode="auto">
          <a:xfrm>
            <a:off x="9710928" y="2615184"/>
            <a:ext cx="91476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HU02</a:t>
            </a:r>
            <a:endParaRPr lang="es-ES"/>
          </a:p>
        </p:txBody>
      </p:sp>
      <p:sp>
        <p:nvSpPr>
          <p:cNvPr id="1617834880" name="TextBox 11"/>
          <p:cNvSpPr txBox="1"/>
          <p:nvPr/>
        </p:nvSpPr>
        <p:spPr bwMode="auto">
          <a:xfrm>
            <a:off x="10789920" y="2633472"/>
            <a:ext cx="5121000" cy="7189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Buscar empleado por código, documento o apellido</a:t>
            </a:r>
            <a:endParaRPr lang="es-ES"/>
          </a:p>
        </p:txBody>
      </p:sp>
      <p:sp>
        <p:nvSpPr>
          <p:cNvPr id="799794039" name="TextBox 12"/>
          <p:cNvSpPr txBox="1"/>
          <p:nvPr/>
        </p:nvSpPr>
        <p:spPr bwMode="auto">
          <a:xfrm>
            <a:off x="15910560" y="2651760"/>
            <a:ext cx="1280520" cy="329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800" b="1" i="0">
                <a:solidFill>
                  <a:srgbClr val="A8DADC"/>
                </a:solidFill>
                <a:latin typeface="Calibri"/>
              </a:rPr>
              <a:t>Alta</a:t>
            </a:r>
            <a:endParaRPr lang="es-ES"/>
          </a:p>
        </p:txBody>
      </p:sp>
      <p:sp>
        <p:nvSpPr>
          <p:cNvPr id="1482571415" name="Rounded Rectangle 13"/>
          <p:cNvSpPr/>
          <p:nvPr/>
        </p:nvSpPr>
        <p:spPr bwMode="auto">
          <a:xfrm>
            <a:off x="868680" y="3456432"/>
            <a:ext cx="8001000" cy="9144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738300442" name="TextBox 14"/>
          <p:cNvSpPr txBox="1"/>
          <p:nvPr/>
        </p:nvSpPr>
        <p:spPr bwMode="auto">
          <a:xfrm>
            <a:off x="1161288" y="3694176"/>
            <a:ext cx="91476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HU03</a:t>
            </a:r>
            <a:endParaRPr lang="es-ES"/>
          </a:p>
        </p:txBody>
      </p:sp>
      <p:sp>
        <p:nvSpPr>
          <p:cNvPr id="608986652" name="TextBox 15"/>
          <p:cNvSpPr txBox="1"/>
          <p:nvPr/>
        </p:nvSpPr>
        <p:spPr bwMode="auto">
          <a:xfrm>
            <a:off x="2240280" y="3712464"/>
            <a:ext cx="5121000" cy="359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Listar empleados registrados</a:t>
            </a:r>
            <a:endParaRPr lang="es-ES"/>
          </a:p>
        </p:txBody>
      </p:sp>
      <p:sp>
        <p:nvSpPr>
          <p:cNvPr id="961503663" name="TextBox 16"/>
          <p:cNvSpPr txBox="1"/>
          <p:nvPr/>
        </p:nvSpPr>
        <p:spPr bwMode="auto">
          <a:xfrm>
            <a:off x="7360920" y="3730752"/>
            <a:ext cx="1280520" cy="329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800" b="1" i="0">
                <a:solidFill>
                  <a:srgbClr val="A8DADC"/>
                </a:solidFill>
                <a:latin typeface="Calibri"/>
              </a:rPr>
              <a:t>Alta</a:t>
            </a:r>
            <a:endParaRPr lang="es-ES"/>
          </a:p>
        </p:txBody>
      </p:sp>
      <p:sp>
        <p:nvSpPr>
          <p:cNvPr id="569319124" name="Rounded Rectangle 17"/>
          <p:cNvSpPr/>
          <p:nvPr/>
        </p:nvSpPr>
        <p:spPr bwMode="auto">
          <a:xfrm>
            <a:off x="9418320" y="3456432"/>
            <a:ext cx="8001000" cy="9144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79620608" name="TextBox 18"/>
          <p:cNvSpPr txBox="1"/>
          <p:nvPr/>
        </p:nvSpPr>
        <p:spPr bwMode="auto">
          <a:xfrm>
            <a:off x="9710928" y="3694176"/>
            <a:ext cx="91476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HU04</a:t>
            </a:r>
            <a:endParaRPr lang="es-ES"/>
          </a:p>
        </p:txBody>
      </p:sp>
      <p:sp>
        <p:nvSpPr>
          <p:cNvPr id="44493689" name="TextBox 19"/>
          <p:cNvSpPr txBox="1"/>
          <p:nvPr/>
        </p:nvSpPr>
        <p:spPr bwMode="auto">
          <a:xfrm>
            <a:off x="10789920" y="3712464"/>
            <a:ext cx="5121000" cy="359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Registrar horas extras</a:t>
            </a:r>
            <a:endParaRPr lang="es-ES"/>
          </a:p>
        </p:txBody>
      </p:sp>
      <p:sp>
        <p:nvSpPr>
          <p:cNvPr id="1554753692" name="TextBox 20"/>
          <p:cNvSpPr txBox="1"/>
          <p:nvPr/>
        </p:nvSpPr>
        <p:spPr bwMode="auto">
          <a:xfrm>
            <a:off x="15910560" y="3730752"/>
            <a:ext cx="1280520" cy="329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800" b="1" i="0">
                <a:solidFill>
                  <a:srgbClr val="A8DADC"/>
                </a:solidFill>
                <a:latin typeface="Calibri"/>
              </a:rPr>
              <a:t>Alta</a:t>
            </a:r>
            <a:endParaRPr lang="es-ES"/>
          </a:p>
        </p:txBody>
      </p:sp>
      <p:sp>
        <p:nvSpPr>
          <p:cNvPr id="571319041" name="Rounded Rectangle 21"/>
          <p:cNvSpPr/>
          <p:nvPr/>
        </p:nvSpPr>
        <p:spPr bwMode="auto">
          <a:xfrm>
            <a:off x="868680" y="4535424"/>
            <a:ext cx="8001000" cy="9144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21445393" name="TextBox 22"/>
          <p:cNvSpPr txBox="1"/>
          <p:nvPr/>
        </p:nvSpPr>
        <p:spPr bwMode="auto">
          <a:xfrm>
            <a:off x="1161288" y="4773168"/>
            <a:ext cx="91476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HU05</a:t>
            </a:r>
            <a:endParaRPr lang="es-ES"/>
          </a:p>
        </p:txBody>
      </p:sp>
      <p:sp>
        <p:nvSpPr>
          <p:cNvPr id="2109401700" name="TextBox 23"/>
          <p:cNvSpPr txBox="1"/>
          <p:nvPr/>
        </p:nvSpPr>
        <p:spPr bwMode="auto">
          <a:xfrm>
            <a:off x="2240280" y="4791456"/>
            <a:ext cx="5121000" cy="359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Listar solicitudes registradas</a:t>
            </a:r>
            <a:endParaRPr lang="es-ES"/>
          </a:p>
        </p:txBody>
      </p:sp>
      <p:sp>
        <p:nvSpPr>
          <p:cNvPr id="2011229383" name="TextBox 24"/>
          <p:cNvSpPr txBox="1"/>
          <p:nvPr/>
        </p:nvSpPr>
        <p:spPr bwMode="auto">
          <a:xfrm>
            <a:off x="7360920" y="4809744"/>
            <a:ext cx="1280520" cy="329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800" b="1" i="0">
                <a:solidFill>
                  <a:srgbClr val="A8DADC"/>
                </a:solidFill>
                <a:latin typeface="Calibri"/>
              </a:rPr>
              <a:t>Alta</a:t>
            </a:r>
            <a:endParaRPr lang="es-ES"/>
          </a:p>
        </p:txBody>
      </p:sp>
      <p:sp>
        <p:nvSpPr>
          <p:cNvPr id="663594934" name="Rounded Rectangle 25"/>
          <p:cNvSpPr/>
          <p:nvPr/>
        </p:nvSpPr>
        <p:spPr bwMode="auto">
          <a:xfrm>
            <a:off x="9418320" y="4535424"/>
            <a:ext cx="8001000" cy="9144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70600878" name="TextBox 26"/>
          <p:cNvSpPr txBox="1"/>
          <p:nvPr/>
        </p:nvSpPr>
        <p:spPr bwMode="auto">
          <a:xfrm>
            <a:off x="9710928" y="4773168"/>
            <a:ext cx="91476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HU06</a:t>
            </a:r>
            <a:endParaRPr lang="es-ES"/>
          </a:p>
        </p:txBody>
      </p:sp>
      <p:sp>
        <p:nvSpPr>
          <p:cNvPr id="1890964311" name="TextBox 27"/>
          <p:cNvSpPr txBox="1"/>
          <p:nvPr/>
        </p:nvSpPr>
        <p:spPr bwMode="auto">
          <a:xfrm>
            <a:off x="10789920" y="4791456"/>
            <a:ext cx="5121000" cy="359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Aprobar solicitud de horas extras</a:t>
            </a:r>
            <a:endParaRPr lang="es-ES"/>
          </a:p>
        </p:txBody>
      </p:sp>
      <p:sp>
        <p:nvSpPr>
          <p:cNvPr id="513534528" name="TextBox 28"/>
          <p:cNvSpPr txBox="1"/>
          <p:nvPr/>
        </p:nvSpPr>
        <p:spPr bwMode="auto">
          <a:xfrm>
            <a:off x="15910560" y="4809744"/>
            <a:ext cx="1280520" cy="329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800" b="1" i="0">
                <a:solidFill>
                  <a:srgbClr val="A8DADC"/>
                </a:solidFill>
                <a:latin typeface="Calibri"/>
              </a:rPr>
              <a:t>Alta</a:t>
            </a:r>
            <a:endParaRPr lang="es-ES"/>
          </a:p>
        </p:txBody>
      </p:sp>
      <p:sp>
        <p:nvSpPr>
          <p:cNvPr id="645607096" name="Rounded Rectangle 29"/>
          <p:cNvSpPr/>
          <p:nvPr/>
        </p:nvSpPr>
        <p:spPr bwMode="auto">
          <a:xfrm>
            <a:off x="868680" y="5614416"/>
            <a:ext cx="8001000" cy="9144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846839556" name="TextBox 30"/>
          <p:cNvSpPr txBox="1"/>
          <p:nvPr/>
        </p:nvSpPr>
        <p:spPr bwMode="auto">
          <a:xfrm>
            <a:off x="1161288" y="5852160"/>
            <a:ext cx="91476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HU07</a:t>
            </a:r>
            <a:endParaRPr lang="es-ES"/>
          </a:p>
        </p:txBody>
      </p:sp>
      <p:sp>
        <p:nvSpPr>
          <p:cNvPr id="1435841756" name="TextBox 31"/>
          <p:cNvSpPr txBox="1"/>
          <p:nvPr/>
        </p:nvSpPr>
        <p:spPr bwMode="auto">
          <a:xfrm>
            <a:off x="2240280" y="5870448"/>
            <a:ext cx="5121000" cy="359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Rechazar solicitud con motivo</a:t>
            </a:r>
            <a:endParaRPr lang="es-ES"/>
          </a:p>
        </p:txBody>
      </p:sp>
      <p:sp>
        <p:nvSpPr>
          <p:cNvPr id="730937071" name="TextBox 32"/>
          <p:cNvSpPr txBox="1"/>
          <p:nvPr/>
        </p:nvSpPr>
        <p:spPr bwMode="auto">
          <a:xfrm>
            <a:off x="7360920" y="5888736"/>
            <a:ext cx="1280520" cy="329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800" b="1" i="0">
                <a:solidFill>
                  <a:srgbClr val="7CCCF3"/>
                </a:solidFill>
                <a:latin typeface="Calibri"/>
              </a:rPr>
              <a:t>Media</a:t>
            </a:r>
            <a:endParaRPr lang="es-ES"/>
          </a:p>
        </p:txBody>
      </p:sp>
      <p:sp>
        <p:nvSpPr>
          <p:cNvPr id="1404857297" name="Rounded Rectangle 33"/>
          <p:cNvSpPr/>
          <p:nvPr/>
        </p:nvSpPr>
        <p:spPr bwMode="auto">
          <a:xfrm>
            <a:off x="9418320" y="5614416"/>
            <a:ext cx="8001000" cy="9144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894617924" name="TextBox 34"/>
          <p:cNvSpPr txBox="1"/>
          <p:nvPr/>
        </p:nvSpPr>
        <p:spPr bwMode="auto">
          <a:xfrm>
            <a:off x="9710928" y="5852160"/>
            <a:ext cx="91476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HU08</a:t>
            </a:r>
            <a:endParaRPr lang="es-ES"/>
          </a:p>
        </p:txBody>
      </p:sp>
      <p:sp>
        <p:nvSpPr>
          <p:cNvPr id="222142468" name="TextBox 35"/>
          <p:cNvSpPr txBox="1"/>
          <p:nvPr/>
        </p:nvSpPr>
        <p:spPr bwMode="auto">
          <a:xfrm>
            <a:off x="10789920" y="5870448"/>
            <a:ext cx="5121000" cy="359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Calcular el pago de horas extras</a:t>
            </a:r>
            <a:endParaRPr lang="es-ES"/>
          </a:p>
        </p:txBody>
      </p:sp>
      <p:sp>
        <p:nvSpPr>
          <p:cNvPr id="164687866" name="TextBox 36"/>
          <p:cNvSpPr txBox="1"/>
          <p:nvPr/>
        </p:nvSpPr>
        <p:spPr bwMode="auto">
          <a:xfrm>
            <a:off x="15910560" y="5888736"/>
            <a:ext cx="1280520" cy="329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800" b="1" i="0">
                <a:solidFill>
                  <a:srgbClr val="A8DADC"/>
                </a:solidFill>
                <a:latin typeface="Calibri"/>
              </a:rPr>
              <a:t>Alta</a:t>
            </a:r>
            <a:endParaRPr lang="es-ES"/>
          </a:p>
        </p:txBody>
      </p:sp>
      <p:sp>
        <p:nvSpPr>
          <p:cNvPr id="353897800" name="Rounded Rectangle 37"/>
          <p:cNvSpPr/>
          <p:nvPr/>
        </p:nvSpPr>
        <p:spPr bwMode="auto">
          <a:xfrm>
            <a:off x="868680" y="6693408"/>
            <a:ext cx="8001000" cy="9144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92632795" name="TextBox 38"/>
          <p:cNvSpPr txBox="1"/>
          <p:nvPr/>
        </p:nvSpPr>
        <p:spPr bwMode="auto">
          <a:xfrm>
            <a:off x="1161288" y="6931152"/>
            <a:ext cx="91476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HU09</a:t>
            </a:r>
            <a:endParaRPr lang="es-ES"/>
          </a:p>
        </p:txBody>
      </p:sp>
      <p:sp>
        <p:nvSpPr>
          <p:cNvPr id="707388149" name="TextBox 39"/>
          <p:cNvSpPr txBox="1"/>
          <p:nvPr/>
        </p:nvSpPr>
        <p:spPr bwMode="auto">
          <a:xfrm>
            <a:off x="2240280" y="6949440"/>
            <a:ext cx="5121000" cy="359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Registrar horas compensadas</a:t>
            </a:r>
            <a:endParaRPr lang="es-ES"/>
          </a:p>
        </p:txBody>
      </p:sp>
      <p:sp>
        <p:nvSpPr>
          <p:cNvPr id="1569831966" name="TextBox 40"/>
          <p:cNvSpPr txBox="1"/>
          <p:nvPr/>
        </p:nvSpPr>
        <p:spPr bwMode="auto">
          <a:xfrm>
            <a:off x="7360920" y="6967728"/>
            <a:ext cx="1280520" cy="329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800" b="1" i="0">
                <a:solidFill>
                  <a:srgbClr val="7CCCF3"/>
                </a:solidFill>
                <a:latin typeface="Calibri"/>
              </a:rPr>
              <a:t>Media</a:t>
            </a:r>
            <a:endParaRPr lang="es-ES"/>
          </a:p>
        </p:txBody>
      </p:sp>
      <p:sp>
        <p:nvSpPr>
          <p:cNvPr id="792064531" name="Rounded Rectangle 41"/>
          <p:cNvSpPr/>
          <p:nvPr/>
        </p:nvSpPr>
        <p:spPr bwMode="auto">
          <a:xfrm>
            <a:off x="9418320" y="6693408"/>
            <a:ext cx="8001000" cy="9144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86212595" name="TextBox 42"/>
          <p:cNvSpPr txBox="1"/>
          <p:nvPr/>
        </p:nvSpPr>
        <p:spPr bwMode="auto">
          <a:xfrm>
            <a:off x="9710928" y="6931152"/>
            <a:ext cx="91476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HU10</a:t>
            </a:r>
            <a:endParaRPr lang="es-ES"/>
          </a:p>
        </p:txBody>
      </p:sp>
      <p:sp>
        <p:nvSpPr>
          <p:cNvPr id="1873899177" name="TextBox 43"/>
          <p:cNvSpPr txBox="1"/>
          <p:nvPr/>
        </p:nvSpPr>
        <p:spPr bwMode="auto">
          <a:xfrm>
            <a:off x="10789920" y="6949440"/>
            <a:ext cx="5121000" cy="359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Consultar saldo de horas compensadas</a:t>
            </a:r>
            <a:endParaRPr lang="es-ES"/>
          </a:p>
        </p:txBody>
      </p:sp>
      <p:sp>
        <p:nvSpPr>
          <p:cNvPr id="1557777574" name="TextBox 44"/>
          <p:cNvSpPr txBox="1"/>
          <p:nvPr/>
        </p:nvSpPr>
        <p:spPr bwMode="auto">
          <a:xfrm>
            <a:off x="15910560" y="6967728"/>
            <a:ext cx="1280520" cy="329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800" b="1" i="0">
                <a:solidFill>
                  <a:srgbClr val="7CCCF3"/>
                </a:solidFill>
                <a:latin typeface="Calibri"/>
              </a:rPr>
              <a:t>Media</a:t>
            </a:r>
            <a:endParaRPr lang="es-ES"/>
          </a:p>
        </p:txBody>
      </p:sp>
      <p:sp>
        <p:nvSpPr>
          <p:cNvPr id="1860369929" name="Rounded Rectangle 45"/>
          <p:cNvSpPr/>
          <p:nvPr/>
        </p:nvSpPr>
        <p:spPr bwMode="auto">
          <a:xfrm>
            <a:off x="868680" y="7772400"/>
            <a:ext cx="8001000" cy="9144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105030362" name="TextBox 46"/>
          <p:cNvSpPr txBox="1"/>
          <p:nvPr/>
        </p:nvSpPr>
        <p:spPr bwMode="auto">
          <a:xfrm>
            <a:off x="1161288" y="8010144"/>
            <a:ext cx="91476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HU11</a:t>
            </a:r>
            <a:endParaRPr lang="es-ES"/>
          </a:p>
        </p:txBody>
      </p:sp>
      <p:sp>
        <p:nvSpPr>
          <p:cNvPr id="1191313652" name="TextBox 47"/>
          <p:cNvSpPr txBox="1"/>
          <p:nvPr/>
        </p:nvSpPr>
        <p:spPr bwMode="auto">
          <a:xfrm>
            <a:off x="2240280" y="8028432"/>
            <a:ext cx="5121000" cy="359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Utilizar horas compensadas</a:t>
            </a:r>
            <a:endParaRPr lang="es-ES"/>
          </a:p>
        </p:txBody>
      </p:sp>
      <p:sp>
        <p:nvSpPr>
          <p:cNvPr id="1840080324" name="TextBox 48"/>
          <p:cNvSpPr txBox="1"/>
          <p:nvPr/>
        </p:nvSpPr>
        <p:spPr bwMode="auto">
          <a:xfrm>
            <a:off x="7360920" y="8046720"/>
            <a:ext cx="1280520" cy="329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800" b="1" i="0">
                <a:solidFill>
                  <a:srgbClr val="7CCCF3"/>
                </a:solidFill>
                <a:latin typeface="Calibri"/>
              </a:rPr>
              <a:t>Media</a:t>
            </a:r>
            <a:endParaRPr lang="es-ES"/>
          </a:p>
        </p:txBody>
      </p:sp>
      <p:sp>
        <p:nvSpPr>
          <p:cNvPr id="464924268" name="Rounded Rectangle 49"/>
          <p:cNvSpPr/>
          <p:nvPr/>
        </p:nvSpPr>
        <p:spPr bwMode="auto">
          <a:xfrm>
            <a:off x="9418320" y="7772400"/>
            <a:ext cx="8001000" cy="9144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749564229" name="TextBox 50"/>
          <p:cNvSpPr txBox="1"/>
          <p:nvPr/>
        </p:nvSpPr>
        <p:spPr bwMode="auto">
          <a:xfrm>
            <a:off x="9710928" y="8010144"/>
            <a:ext cx="91476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HU12</a:t>
            </a:r>
            <a:endParaRPr lang="es-ES"/>
          </a:p>
        </p:txBody>
      </p:sp>
      <p:sp>
        <p:nvSpPr>
          <p:cNvPr id="1417560065" name="TextBox 51"/>
          <p:cNvSpPr txBox="1"/>
          <p:nvPr/>
        </p:nvSpPr>
        <p:spPr bwMode="auto">
          <a:xfrm>
            <a:off x="10789920" y="8028432"/>
            <a:ext cx="5121000" cy="359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Consultar el historial de operaciones</a:t>
            </a:r>
            <a:endParaRPr lang="es-ES"/>
          </a:p>
        </p:txBody>
      </p:sp>
      <p:sp>
        <p:nvSpPr>
          <p:cNvPr id="1413366082" name="TextBox 52"/>
          <p:cNvSpPr txBox="1"/>
          <p:nvPr/>
        </p:nvSpPr>
        <p:spPr bwMode="auto">
          <a:xfrm>
            <a:off x="15910560" y="8046720"/>
            <a:ext cx="1280520" cy="329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800" b="1" i="0">
                <a:solidFill>
                  <a:srgbClr val="9AB4BE"/>
                </a:solidFill>
                <a:latin typeface="Calibri"/>
              </a:rPr>
              <a:t>Baja</a:t>
            </a:r>
            <a:endParaRPr lang="es-ES"/>
          </a:p>
        </p:txBody>
      </p:sp>
      <p:sp>
        <p:nvSpPr>
          <p:cNvPr id="452910897" name="Rounded Rectangle 53"/>
          <p:cNvSpPr/>
          <p:nvPr/>
        </p:nvSpPr>
        <p:spPr bwMode="auto">
          <a:xfrm>
            <a:off x="868680" y="8851392"/>
            <a:ext cx="8001000" cy="9144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87884942" name="TextBox 54"/>
          <p:cNvSpPr txBox="1"/>
          <p:nvPr/>
        </p:nvSpPr>
        <p:spPr bwMode="auto">
          <a:xfrm>
            <a:off x="1161288" y="9089136"/>
            <a:ext cx="91476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HU13</a:t>
            </a:r>
            <a:endParaRPr lang="es-ES"/>
          </a:p>
        </p:txBody>
      </p:sp>
      <p:sp>
        <p:nvSpPr>
          <p:cNvPr id="817230321" name="TextBox 55"/>
          <p:cNvSpPr txBox="1"/>
          <p:nvPr/>
        </p:nvSpPr>
        <p:spPr bwMode="auto">
          <a:xfrm>
            <a:off x="2240280" y="9107424"/>
            <a:ext cx="5121000" cy="359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Generar reportes del sistema</a:t>
            </a:r>
            <a:endParaRPr lang="es-ES"/>
          </a:p>
        </p:txBody>
      </p:sp>
      <p:sp>
        <p:nvSpPr>
          <p:cNvPr id="1666368002" name="TextBox 56"/>
          <p:cNvSpPr txBox="1"/>
          <p:nvPr/>
        </p:nvSpPr>
        <p:spPr bwMode="auto">
          <a:xfrm>
            <a:off x="7360920" y="9125712"/>
            <a:ext cx="1280520" cy="329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800" b="1" i="0">
                <a:solidFill>
                  <a:srgbClr val="9AB4BE"/>
                </a:solidFill>
                <a:latin typeface="Calibri"/>
              </a:rPr>
              <a:t>Baja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643239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880278768" name="TextBox 3"/>
          <p:cNvSpPr txBox="1"/>
          <p:nvPr/>
        </p:nvSpPr>
        <p:spPr bwMode="auto">
          <a:xfrm>
            <a:off x="822960" y="457200"/>
            <a:ext cx="16642440" cy="8644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/>
            </a:pPr>
            <a:r>
              <a:rPr lang="es-ES" sz="5400" b="1" i="0">
                <a:solidFill>
                  <a:srgbClr val="E2D6BE"/>
                </a:solidFill>
                <a:latin typeface="Georgia"/>
              </a:rPr>
              <a:t>DISEÑO DE FLUJO DE LA APLICACIÓN</a:t>
            </a:r>
            <a:endParaRPr lang="es-ES"/>
          </a:p>
        </p:txBody>
      </p:sp>
      <p:sp>
        <p:nvSpPr>
          <p:cNvPr id="2059235859" name="TextBox 4"/>
          <p:cNvSpPr txBox="1"/>
          <p:nvPr/>
        </p:nvSpPr>
        <p:spPr bwMode="auto">
          <a:xfrm>
            <a:off x="868680" y="1325880"/>
            <a:ext cx="16551000" cy="8720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200" b="0" i="0">
                <a:solidFill>
                  <a:srgbClr val="F0F4F6"/>
                </a:solidFill>
                <a:latin typeface="Calibri"/>
              </a:rPr>
              <a:t>El sistema se representa con tres actores —el empleado, el supervisor y el responsable de RR. HH.— y se organiza alrededor de un menú que se repite hasta que el usuario elige salir.</a:t>
            </a:r>
            <a:endParaRPr lang="es-ES"/>
          </a:p>
        </p:txBody>
      </p:sp>
      <p:pic>
        <p:nvPicPr>
          <p:cNvPr id="1589110769" name="Picture 5" descr="casos_us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05840" y="2148840"/>
            <a:ext cx="6614444" cy="3291840"/>
          </a:xfrm>
          <a:prstGeom prst="rect">
            <a:avLst/>
          </a:prstGeom>
        </p:spPr>
      </p:pic>
      <p:sp>
        <p:nvSpPr>
          <p:cNvPr id="651621716" name="TextBox 6"/>
          <p:cNvSpPr txBox="1"/>
          <p:nvPr/>
        </p:nvSpPr>
        <p:spPr bwMode="auto">
          <a:xfrm>
            <a:off x="914400" y="5532119"/>
            <a:ext cx="16459560" cy="302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650" b="0" i="1">
                <a:solidFill>
                  <a:srgbClr val="9AB4BE"/>
                </a:solidFill>
                <a:latin typeface="Calibri"/>
              </a:rPr>
              <a:t>Figura 1. Diagrama de casos de uso</a:t>
            </a:r>
            <a:endParaRPr lang="es-ES"/>
          </a:p>
        </p:txBody>
      </p:sp>
      <p:pic>
        <p:nvPicPr>
          <p:cNvPr id="37556171" name="Picture 7" descr="flujo_aplicacio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138160" y="2148840"/>
            <a:ext cx="4480560" cy="1850859"/>
          </a:xfrm>
          <a:prstGeom prst="rect">
            <a:avLst/>
          </a:prstGeom>
        </p:spPr>
      </p:pic>
      <p:sp>
        <p:nvSpPr>
          <p:cNvPr id="2066618124" name="TextBox 8"/>
          <p:cNvSpPr txBox="1"/>
          <p:nvPr/>
        </p:nvSpPr>
        <p:spPr bwMode="auto">
          <a:xfrm>
            <a:off x="8138160" y="4091139"/>
            <a:ext cx="4480920" cy="302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650" b="0" i="1">
                <a:solidFill>
                  <a:srgbClr val="9AB4BE"/>
                </a:solidFill>
                <a:latin typeface="Calibri"/>
              </a:rPr>
              <a:t>Figura 2. Flujo general de la aplicación</a:t>
            </a:r>
            <a:endParaRPr lang="es-ES"/>
          </a:p>
        </p:txBody>
      </p:sp>
      <p:pic>
        <p:nvPicPr>
          <p:cNvPr id="1683339480" name="Picture 9" descr="flujo_registro_horas_extras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3030200" y="2148840"/>
            <a:ext cx="4480560" cy="1850859"/>
          </a:xfrm>
          <a:prstGeom prst="rect">
            <a:avLst/>
          </a:prstGeom>
        </p:spPr>
      </p:pic>
      <p:sp>
        <p:nvSpPr>
          <p:cNvPr id="693606329" name="TextBox 10"/>
          <p:cNvSpPr txBox="1"/>
          <p:nvPr/>
        </p:nvSpPr>
        <p:spPr bwMode="auto">
          <a:xfrm>
            <a:off x="13030200" y="4091139"/>
            <a:ext cx="4480920" cy="302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650" b="0" i="1">
                <a:solidFill>
                  <a:srgbClr val="9AB4BE"/>
                </a:solidFill>
                <a:latin typeface="Calibri"/>
              </a:rPr>
              <a:t>Figura 3. Flujo de registro de horas extras</a:t>
            </a:r>
            <a:endParaRPr lang="es-ES"/>
          </a:p>
        </p:txBody>
      </p:sp>
      <p:pic>
        <p:nvPicPr>
          <p:cNvPr id="1724606054" name="Picture 11" descr="flujo_aprobacion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138160" y="5806440"/>
            <a:ext cx="4480560" cy="2528169"/>
          </a:xfrm>
          <a:prstGeom prst="rect">
            <a:avLst/>
          </a:prstGeom>
        </p:spPr>
      </p:pic>
      <p:sp>
        <p:nvSpPr>
          <p:cNvPr id="1070680497" name="TextBox 12"/>
          <p:cNvSpPr txBox="1"/>
          <p:nvPr/>
        </p:nvSpPr>
        <p:spPr bwMode="auto">
          <a:xfrm>
            <a:off x="8138160" y="8426048"/>
            <a:ext cx="4480920" cy="302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650" b="0" i="1">
                <a:solidFill>
                  <a:srgbClr val="9AB4BE"/>
                </a:solidFill>
                <a:latin typeface="Calibri"/>
              </a:rPr>
              <a:t>Figura 4. Flujo de aprobación o rechazo</a:t>
            </a:r>
            <a:endParaRPr lang="es-ES"/>
          </a:p>
        </p:txBody>
      </p:sp>
      <p:pic>
        <p:nvPicPr>
          <p:cNvPr id="883612378" name="Picture 13" descr="flujo_horas_compensadas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3030200" y="5806440"/>
            <a:ext cx="4480560" cy="1850859"/>
          </a:xfrm>
          <a:prstGeom prst="rect">
            <a:avLst/>
          </a:prstGeom>
        </p:spPr>
      </p:pic>
      <p:sp>
        <p:nvSpPr>
          <p:cNvPr id="1160897363" name="TextBox 14"/>
          <p:cNvSpPr txBox="1"/>
          <p:nvPr/>
        </p:nvSpPr>
        <p:spPr bwMode="auto">
          <a:xfrm>
            <a:off x="13030200" y="7748739"/>
            <a:ext cx="4480920" cy="302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650" b="0" i="1">
                <a:solidFill>
                  <a:srgbClr val="9AB4BE"/>
                </a:solidFill>
                <a:latin typeface="Calibri"/>
              </a:rPr>
              <a:t>Figura 5. Flujo de horas compensadas</a:t>
            </a:r>
            <a:endParaRPr lang="es-ES"/>
          </a:p>
        </p:txBody>
      </p:sp>
      <p:sp>
        <p:nvSpPr>
          <p:cNvPr id="2088651813" name="TextBox 15"/>
          <p:cNvSpPr txBox="1"/>
          <p:nvPr/>
        </p:nvSpPr>
        <p:spPr bwMode="auto">
          <a:xfrm>
            <a:off x="1005840" y="6400800"/>
            <a:ext cx="6675479" cy="20806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9AB4BE"/>
                </a:solidFill>
                <a:latin typeface="Calibri"/>
              </a:rPr>
              <a:t>Ante cualquier dato inválido el programa muestra el error y vuelve al menú, sin cerrarse. Los flujos de registro, aprobación y compensación comparten la misma estructura: validar la entrada, aplicar la regla de negocio y devolver el control al menú principal.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597369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854014585" name="TextBox 3"/>
          <p:cNvSpPr txBox="1"/>
          <p:nvPr/>
        </p:nvSpPr>
        <p:spPr bwMode="auto">
          <a:xfrm>
            <a:off x="822960" y="411480"/>
            <a:ext cx="16642440" cy="9124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/>
            </a:pPr>
            <a:r>
              <a:rPr lang="es-ES" sz="5700" b="1" i="0">
                <a:solidFill>
                  <a:srgbClr val="E2D6BE"/>
                </a:solidFill>
                <a:latin typeface="Georgia"/>
              </a:rPr>
              <a:t>DIAGRAMA DE CLASES DEL MODELO</a:t>
            </a:r>
            <a:endParaRPr lang="es-ES"/>
          </a:p>
        </p:txBody>
      </p:sp>
      <p:pic>
        <p:nvPicPr>
          <p:cNvPr id="2024111856" name="Picture 4" descr="diagrama_clase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68680" y="1371600"/>
            <a:ext cx="11338560" cy="5801550"/>
          </a:xfrm>
          <a:prstGeom prst="rect">
            <a:avLst/>
          </a:prstGeom>
        </p:spPr>
      </p:pic>
      <p:sp>
        <p:nvSpPr>
          <p:cNvPr id="1455522192" name="TextBox 5"/>
          <p:cNvSpPr txBox="1"/>
          <p:nvPr/>
        </p:nvSpPr>
        <p:spPr bwMode="auto">
          <a:xfrm>
            <a:off x="914400" y="7406640"/>
            <a:ext cx="16459560" cy="302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650" b="0" i="1">
                <a:solidFill>
                  <a:srgbClr val="9AB4BE"/>
                </a:solidFill>
                <a:latin typeface="Calibri"/>
              </a:rPr>
              <a:t>Figura 6. Diagrama de clases del modelo</a:t>
            </a:r>
            <a:endParaRPr lang="es-ES"/>
          </a:p>
        </p:txBody>
      </p:sp>
      <p:sp>
        <p:nvSpPr>
          <p:cNvPr id="2063181691" name="Rounded Rectangle 6"/>
          <p:cNvSpPr/>
          <p:nvPr/>
        </p:nvSpPr>
        <p:spPr bwMode="auto">
          <a:xfrm>
            <a:off x="12481560" y="1463040"/>
            <a:ext cx="4937760" cy="23317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772199363" name="TextBox 7"/>
          <p:cNvSpPr txBox="1"/>
          <p:nvPr/>
        </p:nvSpPr>
        <p:spPr bwMode="auto">
          <a:xfrm>
            <a:off x="12847320" y="1667323"/>
            <a:ext cx="4206600" cy="41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50" b="1" i="0">
                <a:solidFill>
                  <a:srgbClr val="A8DADC"/>
                </a:solidFill>
                <a:latin typeface="Georgia"/>
              </a:rPr>
              <a:t>ENCAPSULAMIENTO</a:t>
            </a:r>
            <a:endParaRPr lang="es-ES"/>
          </a:p>
        </p:txBody>
      </p:sp>
      <p:sp>
        <p:nvSpPr>
          <p:cNvPr id="571364395" name="TextBox 8"/>
          <p:cNvSpPr txBox="1"/>
          <p:nvPr/>
        </p:nvSpPr>
        <p:spPr bwMode="auto">
          <a:xfrm>
            <a:off x="12847320" y="2215963"/>
            <a:ext cx="4206600" cy="14862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1950" b="0" i="0">
                <a:solidFill>
                  <a:srgbClr val="F0F4F6"/>
                </a:solidFill>
                <a:latin typeface="Calibri"/>
              </a:rPr>
              <a:t>Atributos con convención _nombre y acceso mediante @property con validación en el setter. Las listas se entregan como copias.</a:t>
            </a:r>
            <a:endParaRPr lang="es-ES"/>
          </a:p>
        </p:txBody>
      </p:sp>
      <p:sp>
        <p:nvSpPr>
          <p:cNvPr id="633517692" name="Rounded Rectangle 9"/>
          <p:cNvSpPr/>
          <p:nvPr/>
        </p:nvSpPr>
        <p:spPr bwMode="auto">
          <a:xfrm>
            <a:off x="12481560" y="4069080"/>
            <a:ext cx="4937760" cy="23317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755048939" name="TextBox 10"/>
          <p:cNvSpPr txBox="1"/>
          <p:nvPr/>
        </p:nvSpPr>
        <p:spPr bwMode="auto">
          <a:xfrm>
            <a:off x="12847320" y="4203326"/>
            <a:ext cx="4206600" cy="41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50" b="1" i="0">
                <a:solidFill>
                  <a:srgbClr val="A8DADC"/>
                </a:solidFill>
                <a:latin typeface="Georgia"/>
              </a:rPr>
              <a:t>HERENCIA</a:t>
            </a:r>
            <a:endParaRPr lang="es-ES"/>
          </a:p>
        </p:txBody>
      </p:sp>
      <p:sp>
        <p:nvSpPr>
          <p:cNvPr id="1150554016" name="TextBox 11"/>
          <p:cNvSpPr txBox="1"/>
          <p:nvPr/>
        </p:nvSpPr>
        <p:spPr bwMode="auto">
          <a:xfrm flipH="0" flipV="0">
            <a:off x="12847320" y="4583878"/>
            <a:ext cx="4573080" cy="18577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1950" b="0" i="0">
                <a:solidFill>
                  <a:srgbClr val="F0F4F6"/>
                </a:solidFill>
                <a:latin typeface="Calibri"/>
              </a:rPr>
              <a:t>Tres jerarquías: Persona → Empleado / Supervisor / ResponsableRR.HH., RegistroHora → HoraExtra / HoraCompensada y Solicitud → sus dos subclases.</a:t>
            </a:r>
            <a:endParaRPr lang="es-ES"/>
          </a:p>
        </p:txBody>
      </p:sp>
      <p:sp>
        <p:nvSpPr>
          <p:cNvPr id="1108783278" name="Rounded Rectangle 12"/>
          <p:cNvSpPr/>
          <p:nvPr/>
        </p:nvSpPr>
        <p:spPr bwMode="auto">
          <a:xfrm>
            <a:off x="12481560" y="6675120"/>
            <a:ext cx="4937760" cy="23317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630382306" name="TextBox 13"/>
          <p:cNvSpPr txBox="1"/>
          <p:nvPr/>
        </p:nvSpPr>
        <p:spPr bwMode="auto">
          <a:xfrm>
            <a:off x="12847320" y="6879403"/>
            <a:ext cx="4206600" cy="41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50" b="1" i="0">
                <a:solidFill>
                  <a:srgbClr val="A8DADC"/>
                </a:solidFill>
                <a:latin typeface="Georgia"/>
              </a:rPr>
              <a:t>POLIMORFISMO</a:t>
            </a:r>
            <a:endParaRPr lang="es-ES"/>
          </a:p>
        </p:txBody>
      </p:sp>
      <p:sp>
        <p:nvSpPr>
          <p:cNvPr id="403973179" name="TextBox 14"/>
          <p:cNvSpPr txBox="1"/>
          <p:nvPr/>
        </p:nvSpPr>
        <p:spPr bwMode="auto">
          <a:xfrm>
            <a:off x="12847320" y="7428043"/>
            <a:ext cx="4206600" cy="14862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1950" b="0" i="0">
                <a:solidFill>
                  <a:srgbClr val="F0F4F6"/>
                </a:solidFill>
                <a:latin typeface="Calibri"/>
              </a:rPr>
              <a:t>calcular_valor() y obtener_rol() se invocan sobre referencias de clase base; cada subclase resuelve el comportamiento propio.</a:t>
            </a:r>
            <a:endParaRPr lang="es-ES"/>
          </a:p>
        </p:txBody>
      </p:sp>
      <p:sp>
        <p:nvSpPr>
          <p:cNvPr id="1186324772" name="TextBox 15"/>
          <p:cNvSpPr txBox="1"/>
          <p:nvPr/>
        </p:nvSpPr>
        <p:spPr bwMode="auto">
          <a:xfrm>
            <a:off x="914400" y="9464040"/>
            <a:ext cx="16459560" cy="302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650" b="0" i="1">
                <a:solidFill>
                  <a:srgbClr val="9AB4BE"/>
                </a:solidFill>
                <a:latin typeface="Calibri"/>
              </a:rPr>
              <a:t>El diagrama editable se encuentra en drawio/diagrama_clases.drawio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121435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53435597" name="TextBox 3"/>
          <p:cNvSpPr txBox="1"/>
          <p:nvPr/>
        </p:nvSpPr>
        <p:spPr bwMode="auto">
          <a:xfrm>
            <a:off x="822960" y="411480"/>
            <a:ext cx="16642440" cy="9124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/>
            </a:pPr>
            <a:r>
              <a:rPr lang="es-ES" sz="5700" b="1" i="0">
                <a:solidFill>
                  <a:srgbClr val="E2D6BE"/>
                </a:solidFill>
                <a:latin typeface="Georgia"/>
              </a:rPr>
              <a:t>PATRONES DE DISEÑO APLICADOS</a:t>
            </a:r>
            <a:endParaRPr lang="es-ES"/>
          </a:p>
        </p:txBody>
      </p:sp>
      <p:sp>
        <p:nvSpPr>
          <p:cNvPr id="1263418526" name="TextBox 4"/>
          <p:cNvSpPr txBox="1"/>
          <p:nvPr/>
        </p:nvSpPr>
        <p:spPr bwMode="auto">
          <a:xfrm>
            <a:off x="868680" y="1280160"/>
            <a:ext cx="16551000" cy="4362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200" b="0" i="0">
                <a:solidFill>
                  <a:srgbClr val="F0F4F6"/>
                </a:solidFill>
                <a:latin typeface="Calibri"/>
              </a:rPr>
              <a:t>Cinco patrones organizan las clases del sistema y facilitan su mantenimiento.</a:t>
            </a:r>
            <a:endParaRPr lang="es-ES"/>
          </a:p>
        </p:txBody>
      </p:sp>
      <p:sp>
        <p:nvSpPr>
          <p:cNvPr id="2105549104" name="Rounded Rectangle 5"/>
          <p:cNvSpPr/>
          <p:nvPr/>
        </p:nvSpPr>
        <p:spPr bwMode="auto">
          <a:xfrm>
            <a:off x="868680" y="2148840"/>
            <a:ext cx="9692640" cy="128016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577174633" name="TextBox 6"/>
          <p:cNvSpPr txBox="1"/>
          <p:nvPr/>
        </p:nvSpPr>
        <p:spPr bwMode="auto">
          <a:xfrm>
            <a:off x="1234440" y="2350008"/>
            <a:ext cx="9052920" cy="402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00" b="1" i="0">
                <a:solidFill>
                  <a:srgbClr val="A8DADC"/>
                </a:solidFill>
                <a:latin typeface="Calibri"/>
              </a:rPr>
              <a:t>Fachada (Facade)</a:t>
            </a:r>
            <a:endParaRPr lang="es-ES"/>
          </a:p>
        </p:txBody>
      </p:sp>
      <p:sp>
        <p:nvSpPr>
          <p:cNvPr id="790598404" name="TextBox 7"/>
          <p:cNvSpPr txBox="1"/>
          <p:nvPr/>
        </p:nvSpPr>
        <p:spPr bwMode="auto">
          <a:xfrm>
            <a:off x="1234440" y="2743200"/>
            <a:ext cx="4023720" cy="6663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1900" b="0" i="0">
                <a:solidFill>
                  <a:srgbClr val="7CCCF3"/>
                </a:solidFill>
                <a:latin typeface="Consolas"/>
              </a:rPr>
              <a:t>MenuConsola → GestorHorasExtras</a:t>
            </a:r>
            <a:endParaRPr lang="es-ES"/>
          </a:p>
        </p:txBody>
      </p:sp>
      <p:sp>
        <p:nvSpPr>
          <p:cNvPr id="1078115009" name="TextBox 8"/>
          <p:cNvSpPr txBox="1"/>
          <p:nvPr/>
        </p:nvSpPr>
        <p:spPr bwMode="auto">
          <a:xfrm>
            <a:off x="5440680" y="2715768"/>
            <a:ext cx="4846680" cy="69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900" b="0" i="0">
                <a:solidFill>
                  <a:srgbClr val="F0F4F6"/>
                </a:solidFill>
                <a:latin typeface="Calibri"/>
              </a:rPr>
              <a:t>El menú es el único punto de entrada: oculta el modelo y sus validaciones.</a:t>
            </a:r>
            <a:endParaRPr lang="es-ES"/>
          </a:p>
        </p:txBody>
      </p:sp>
      <p:sp>
        <p:nvSpPr>
          <p:cNvPr id="470717522" name="Rounded Rectangle 9"/>
          <p:cNvSpPr/>
          <p:nvPr/>
        </p:nvSpPr>
        <p:spPr bwMode="auto">
          <a:xfrm>
            <a:off x="868680" y="3630168"/>
            <a:ext cx="9692640" cy="128016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333903246" name="TextBox 10"/>
          <p:cNvSpPr txBox="1"/>
          <p:nvPr/>
        </p:nvSpPr>
        <p:spPr bwMode="auto">
          <a:xfrm>
            <a:off x="1234440" y="3831336"/>
            <a:ext cx="9052920" cy="402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00" b="1" i="0">
                <a:solidFill>
                  <a:srgbClr val="A8DADC"/>
                </a:solidFill>
                <a:latin typeface="Calibri"/>
              </a:rPr>
              <a:t>Servicio / Repositorio</a:t>
            </a:r>
            <a:endParaRPr lang="es-ES"/>
          </a:p>
        </p:txBody>
      </p:sp>
      <p:sp>
        <p:nvSpPr>
          <p:cNvPr id="2042446256" name="TextBox 11"/>
          <p:cNvSpPr txBox="1"/>
          <p:nvPr/>
        </p:nvSpPr>
        <p:spPr bwMode="auto">
          <a:xfrm>
            <a:off x="1234440" y="4224528"/>
            <a:ext cx="4023720" cy="3333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1900" b="0" i="0">
                <a:solidFill>
                  <a:srgbClr val="7CCCF3"/>
                </a:solidFill>
                <a:latin typeface="Consolas"/>
              </a:rPr>
              <a:t>GestorHorasExtras</a:t>
            </a:r>
            <a:endParaRPr lang="es-ES"/>
          </a:p>
        </p:txBody>
      </p:sp>
      <p:sp>
        <p:nvSpPr>
          <p:cNvPr id="1916207860" name="TextBox 12"/>
          <p:cNvSpPr txBox="1"/>
          <p:nvPr/>
        </p:nvSpPr>
        <p:spPr bwMode="auto">
          <a:xfrm>
            <a:off x="5440680" y="4197096"/>
            <a:ext cx="4846680" cy="69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900" b="0" i="0">
                <a:solidFill>
                  <a:srgbClr val="F0F4F6"/>
                </a:solidFill>
                <a:latin typeface="Calibri"/>
              </a:rPr>
              <a:t>Centraliza las colecciones y expone la API de negocio.</a:t>
            </a:r>
            <a:endParaRPr lang="es-ES"/>
          </a:p>
        </p:txBody>
      </p:sp>
      <p:sp>
        <p:nvSpPr>
          <p:cNvPr id="1432018453" name="Rounded Rectangle 13"/>
          <p:cNvSpPr/>
          <p:nvPr/>
        </p:nvSpPr>
        <p:spPr bwMode="auto">
          <a:xfrm>
            <a:off x="868680" y="5111496"/>
            <a:ext cx="9692640" cy="128016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535420901" name="TextBox 14"/>
          <p:cNvSpPr txBox="1"/>
          <p:nvPr/>
        </p:nvSpPr>
        <p:spPr bwMode="auto">
          <a:xfrm>
            <a:off x="1234440" y="5312664"/>
            <a:ext cx="9052920" cy="402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00" b="1" i="0">
                <a:solidFill>
                  <a:srgbClr val="A8DADC"/>
                </a:solidFill>
                <a:latin typeface="Calibri"/>
              </a:rPr>
              <a:t>Estrategia (Strategy)</a:t>
            </a:r>
            <a:endParaRPr lang="es-ES"/>
          </a:p>
        </p:txBody>
      </p:sp>
      <p:sp>
        <p:nvSpPr>
          <p:cNvPr id="1199036061" name="TextBox 15"/>
          <p:cNvSpPr txBox="1"/>
          <p:nvPr/>
        </p:nvSpPr>
        <p:spPr bwMode="auto">
          <a:xfrm>
            <a:off x="1234440" y="5705856"/>
            <a:ext cx="4023720" cy="3333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1900" b="0" i="0">
                <a:solidFill>
                  <a:srgbClr val="7CCCF3"/>
                </a:solidFill>
                <a:latin typeface="Consolas"/>
              </a:rPr>
              <a:t>CalculadoraHoras</a:t>
            </a:r>
            <a:endParaRPr lang="es-ES"/>
          </a:p>
        </p:txBody>
      </p:sp>
      <p:sp>
        <p:nvSpPr>
          <p:cNvPr id="517550955" name="TextBox 16"/>
          <p:cNvSpPr txBox="1"/>
          <p:nvPr/>
        </p:nvSpPr>
        <p:spPr bwMode="auto">
          <a:xfrm>
            <a:off x="5440680" y="5678424"/>
            <a:ext cx="4846680" cy="69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900" b="0" i="0">
                <a:solidFill>
                  <a:srgbClr val="F0F4F6"/>
                </a:solidFill>
                <a:latin typeface="Calibri"/>
              </a:rPr>
              <a:t>Se inyecta por constructor: cambiar el recargo no toca el gestor.</a:t>
            </a:r>
            <a:endParaRPr lang="es-ES"/>
          </a:p>
        </p:txBody>
      </p:sp>
      <p:sp>
        <p:nvSpPr>
          <p:cNvPr id="1312197759" name="Rounded Rectangle 17"/>
          <p:cNvSpPr/>
          <p:nvPr/>
        </p:nvSpPr>
        <p:spPr bwMode="auto">
          <a:xfrm>
            <a:off x="868680" y="6592823"/>
            <a:ext cx="9692640" cy="128016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599212924" name="TextBox 18"/>
          <p:cNvSpPr txBox="1"/>
          <p:nvPr/>
        </p:nvSpPr>
        <p:spPr bwMode="auto">
          <a:xfrm>
            <a:off x="1234440" y="6793992"/>
            <a:ext cx="9052920" cy="402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00" b="1" i="0">
                <a:solidFill>
                  <a:srgbClr val="A8DADC"/>
                </a:solidFill>
                <a:latin typeface="Calibri"/>
              </a:rPr>
              <a:t>Plantilla (Template Method)</a:t>
            </a:r>
            <a:endParaRPr lang="es-ES"/>
          </a:p>
        </p:txBody>
      </p:sp>
      <p:sp>
        <p:nvSpPr>
          <p:cNvPr id="1188789733" name="TextBox 19"/>
          <p:cNvSpPr txBox="1"/>
          <p:nvPr/>
        </p:nvSpPr>
        <p:spPr bwMode="auto">
          <a:xfrm>
            <a:off x="1234440" y="7187184"/>
            <a:ext cx="4023720" cy="3333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1900" b="0" i="0">
                <a:solidFill>
                  <a:srgbClr val="7CCCF3"/>
                </a:solidFill>
                <a:latin typeface="Consolas"/>
              </a:rPr>
              <a:t>RegistroHora, Solicitud</a:t>
            </a:r>
            <a:endParaRPr lang="es-ES"/>
          </a:p>
        </p:txBody>
      </p:sp>
      <p:sp>
        <p:nvSpPr>
          <p:cNvPr id="121855737" name="TextBox 20"/>
          <p:cNvSpPr txBox="1"/>
          <p:nvPr/>
        </p:nvSpPr>
        <p:spPr bwMode="auto">
          <a:xfrm>
            <a:off x="5440680" y="7159752"/>
            <a:ext cx="4846680" cy="69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900" b="0" i="0">
                <a:solidFill>
                  <a:srgbClr val="F0F4F6"/>
                </a:solidFill>
                <a:latin typeface="Calibri"/>
              </a:rPr>
              <a:t>Las clases abstractas definen el esqueleto y delegan el cálculo.</a:t>
            </a:r>
            <a:endParaRPr lang="es-ES"/>
          </a:p>
        </p:txBody>
      </p:sp>
      <p:sp>
        <p:nvSpPr>
          <p:cNvPr id="1479287257" name="Rounded Rectangle 21"/>
          <p:cNvSpPr/>
          <p:nvPr/>
        </p:nvSpPr>
        <p:spPr bwMode="auto">
          <a:xfrm>
            <a:off x="868680" y="8074152"/>
            <a:ext cx="9692640" cy="128016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734514722" name="TextBox 22"/>
          <p:cNvSpPr txBox="1"/>
          <p:nvPr/>
        </p:nvSpPr>
        <p:spPr bwMode="auto">
          <a:xfrm>
            <a:off x="1234440" y="8275320"/>
            <a:ext cx="9052920" cy="402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00" b="1" i="0">
                <a:solidFill>
                  <a:srgbClr val="A8DADC"/>
                </a:solidFill>
                <a:latin typeface="Calibri"/>
              </a:rPr>
              <a:t>Estado (State)</a:t>
            </a:r>
            <a:endParaRPr lang="es-ES"/>
          </a:p>
        </p:txBody>
      </p:sp>
      <p:sp>
        <p:nvSpPr>
          <p:cNvPr id="2021946331" name="TextBox 23"/>
          <p:cNvSpPr txBox="1"/>
          <p:nvPr/>
        </p:nvSpPr>
        <p:spPr bwMode="auto">
          <a:xfrm>
            <a:off x="1234440" y="8668512"/>
            <a:ext cx="4023720" cy="3333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1900" b="0" i="0">
                <a:solidFill>
                  <a:srgbClr val="7CCCF3"/>
                </a:solidFill>
                <a:latin typeface="Consolas"/>
              </a:rPr>
              <a:t>Solicitud → EstadoSolicitud</a:t>
            </a:r>
            <a:endParaRPr lang="es-ES"/>
          </a:p>
        </p:txBody>
      </p:sp>
      <p:sp>
        <p:nvSpPr>
          <p:cNvPr id="508627843" name="TextBox 24"/>
          <p:cNvSpPr txBox="1"/>
          <p:nvPr/>
        </p:nvSpPr>
        <p:spPr bwMode="auto">
          <a:xfrm>
            <a:off x="5440680" y="8641080"/>
            <a:ext cx="4846680" cy="695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900" b="0" i="0">
                <a:solidFill>
                  <a:srgbClr val="F0F4F6"/>
                </a:solidFill>
                <a:latin typeface="Calibri"/>
              </a:rPr>
              <a:t>El enum controla las transiciones válidas del ciclo de la solicitud.</a:t>
            </a:r>
            <a:endParaRPr lang="es-ES"/>
          </a:p>
        </p:txBody>
      </p:sp>
      <p:pic>
        <p:nvPicPr>
          <p:cNvPr id="460729744" name="Picture 25" descr="donut_limpi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972800" y="2148840"/>
            <a:ext cx="6400800" cy="5943600"/>
          </a:xfrm>
          <a:prstGeom prst="rect">
            <a:avLst/>
          </a:prstGeom>
        </p:spPr>
      </p:pic>
      <p:sp>
        <p:nvSpPr>
          <p:cNvPr id="225767523" name="TextBox 26"/>
          <p:cNvSpPr txBox="1"/>
          <p:nvPr/>
        </p:nvSpPr>
        <p:spPr bwMode="auto">
          <a:xfrm>
            <a:off x="10972800" y="8202168"/>
            <a:ext cx="6401160" cy="302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650" b="0" i="1">
                <a:solidFill>
                  <a:srgbClr val="9AB4BE"/>
                </a:solidFill>
                <a:latin typeface="Calibri"/>
              </a:rPr>
              <a:t>Figura 7. Distribución de los patrones por categoría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45512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907759475" name="TextBox 3"/>
          <p:cNvSpPr txBox="1"/>
          <p:nvPr/>
        </p:nvSpPr>
        <p:spPr bwMode="auto">
          <a:xfrm>
            <a:off x="822960" y="457200"/>
            <a:ext cx="16642440" cy="8644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/>
            </a:pPr>
            <a:r>
              <a:rPr lang="es-ES" sz="5400" b="1" i="0">
                <a:solidFill>
                  <a:srgbClr val="E2D6BE"/>
                </a:solidFill>
                <a:latin typeface="Georgia"/>
              </a:rPr>
              <a:t>VERIFICACIÓN CON PRUEBAS UNITARIAS</a:t>
            </a:r>
            <a:endParaRPr lang="es-ES"/>
          </a:p>
        </p:txBody>
      </p:sp>
      <p:pic>
        <p:nvPicPr>
          <p:cNvPr id="191733863" name="Picture 4" descr="pruebas_unitaria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68680" y="1554480"/>
            <a:ext cx="9692640" cy="6048449"/>
          </a:xfrm>
          <a:prstGeom prst="rect">
            <a:avLst/>
          </a:prstGeom>
        </p:spPr>
      </p:pic>
      <p:sp>
        <p:nvSpPr>
          <p:cNvPr id="1963098513" name="TextBox 5"/>
          <p:cNvSpPr txBox="1"/>
          <p:nvPr/>
        </p:nvSpPr>
        <p:spPr bwMode="auto">
          <a:xfrm>
            <a:off x="914400" y="7680960"/>
            <a:ext cx="16459560" cy="302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650" b="0" i="1">
                <a:solidFill>
                  <a:srgbClr val="9AB4BE"/>
                </a:solidFill>
                <a:latin typeface="Calibri"/>
              </a:rPr>
              <a:t>Salida de la ejecución de la suite unittest</a:t>
            </a:r>
            <a:endParaRPr lang="es-ES"/>
          </a:p>
        </p:txBody>
      </p:sp>
      <p:sp>
        <p:nvSpPr>
          <p:cNvPr id="880303057" name="Rounded Rectangle 6"/>
          <p:cNvSpPr/>
          <p:nvPr/>
        </p:nvSpPr>
        <p:spPr bwMode="auto">
          <a:xfrm>
            <a:off x="10972800" y="1554480"/>
            <a:ext cx="6446520" cy="594360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960638386" name="TextBox 7"/>
          <p:cNvSpPr txBox="1"/>
          <p:nvPr/>
        </p:nvSpPr>
        <p:spPr bwMode="auto">
          <a:xfrm>
            <a:off x="11384280" y="1920240"/>
            <a:ext cx="5669639" cy="466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550" b="1" i="0">
                <a:solidFill>
                  <a:srgbClr val="A8DADC"/>
                </a:solidFill>
                <a:latin typeface="Georgia"/>
              </a:rPr>
              <a:t>RESULTADO</a:t>
            </a:r>
            <a:endParaRPr lang="es-ES"/>
          </a:p>
        </p:txBody>
      </p:sp>
      <p:sp>
        <p:nvSpPr>
          <p:cNvPr id="254526039" name="TextBox 8"/>
          <p:cNvSpPr txBox="1"/>
          <p:nvPr/>
        </p:nvSpPr>
        <p:spPr bwMode="auto">
          <a:xfrm>
            <a:off x="11384280" y="2514599"/>
            <a:ext cx="5669639" cy="1042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5700" b="1" i="0">
                <a:solidFill>
                  <a:srgbClr val="E2D6BE"/>
                </a:solidFill>
                <a:latin typeface="Georgia"/>
              </a:rPr>
              <a:t>23 / 23</a:t>
            </a:r>
            <a:endParaRPr lang="es-ES"/>
          </a:p>
        </p:txBody>
      </p:sp>
      <p:sp>
        <p:nvSpPr>
          <p:cNvPr id="363423176" name="TextBox 9"/>
          <p:cNvSpPr txBox="1"/>
          <p:nvPr/>
        </p:nvSpPr>
        <p:spPr bwMode="auto">
          <a:xfrm>
            <a:off x="11384280" y="3474720"/>
            <a:ext cx="5669639" cy="4164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pruebas ejecutadas, 23 correctas y 0 fallidas.</a:t>
            </a:r>
            <a:endParaRPr lang="es-ES"/>
          </a:p>
        </p:txBody>
      </p:sp>
      <p:sp>
        <p:nvSpPr>
          <p:cNvPr id="910746476" name="TextBox 10"/>
          <p:cNvSpPr txBox="1"/>
          <p:nvPr/>
        </p:nvSpPr>
        <p:spPr bwMode="auto">
          <a:xfrm>
            <a:off x="11384280" y="4709160"/>
            <a:ext cx="5669639" cy="3623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1900" b="1" i="0">
                <a:solidFill>
                  <a:srgbClr val="A8DADC"/>
                </a:solidFill>
                <a:latin typeface="Calibri"/>
              </a:rPr>
              <a:t>- </a:t>
            </a:r>
            <a:r>
              <a:rPr lang="es-ES" sz="1900" b="0" i="0">
                <a:solidFill>
                  <a:srgbClr val="F0F4F6"/>
                </a:solidFill>
                <a:latin typeface="Calibri"/>
              </a:rPr>
              <a:t>Cálculo del pago de horas extras.</a:t>
            </a:r>
            <a:endParaRPr lang="es-ES"/>
          </a:p>
        </p:txBody>
      </p:sp>
      <p:sp>
        <p:nvSpPr>
          <p:cNvPr id="1552601032" name="TextBox 11"/>
          <p:cNvSpPr txBox="1"/>
          <p:nvPr/>
        </p:nvSpPr>
        <p:spPr bwMode="auto">
          <a:xfrm>
            <a:off x="11384280" y="5422392"/>
            <a:ext cx="5669639" cy="3623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1900" b="1" i="0">
                <a:solidFill>
                  <a:srgbClr val="A8DADC"/>
                </a:solidFill>
                <a:latin typeface="Calibri"/>
              </a:rPr>
              <a:t>- </a:t>
            </a:r>
            <a:r>
              <a:rPr lang="es-ES" sz="1900" b="0" i="0">
                <a:solidFill>
                  <a:srgbClr val="F0F4F6"/>
                </a:solidFill>
                <a:latin typeface="Calibri"/>
              </a:rPr>
              <a:t>Control de estados de la solicitud.</a:t>
            </a:r>
            <a:endParaRPr lang="es-ES"/>
          </a:p>
        </p:txBody>
      </p:sp>
      <p:sp>
        <p:nvSpPr>
          <p:cNvPr id="1458531550" name="TextBox 12"/>
          <p:cNvSpPr txBox="1"/>
          <p:nvPr/>
        </p:nvSpPr>
        <p:spPr bwMode="auto">
          <a:xfrm>
            <a:off x="11384280" y="6135624"/>
            <a:ext cx="5669639" cy="3623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1900" b="1" i="0">
                <a:solidFill>
                  <a:srgbClr val="A8DADC"/>
                </a:solidFill>
                <a:latin typeface="Calibri"/>
              </a:rPr>
              <a:t>- </a:t>
            </a:r>
            <a:r>
              <a:rPr lang="es-ES" sz="1900" b="0" i="0">
                <a:solidFill>
                  <a:srgbClr val="F0F4F6"/>
                </a:solidFill>
                <a:latin typeface="Calibri"/>
              </a:rPr>
              <a:t>Validación del saldo compensado.</a:t>
            </a:r>
            <a:endParaRPr lang="es-ES"/>
          </a:p>
        </p:txBody>
      </p:sp>
      <p:sp>
        <p:nvSpPr>
          <p:cNvPr id="1185106626" name="TextBox 13"/>
          <p:cNvSpPr txBox="1"/>
          <p:nvPr/>
        </p:nvSpPr>
        <p:spPr bwMode="auto">
          <a:xfrm>
            <a:off x="11384280" y="6848856"/>
            <a:ext cx="5669639" cy="3623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1900" b="1" i="0">
                <a:solidFill>
                  <a:srgbClr val="A8DADC"/>
                </a:solidFill>
                <a:latin typeface="Calibri"/>
              </a:rPr>
              <a:t>- </a:t>
            </a:r>
            <a:r>
              <a:rPr lang="es-ES" sz="1900" b="0" i="0">
                <a:solidFill>
                  <a:srgbClr val="F0F4F6"/>
                </a:solidFill>
                <a:latin typeface="Calibri"/>
              </a:rPr>
              <a:t>Validación de datos de entrada.</a:t>
            </a:r>
            <a:endParaRPr lang="es-ES"/>
          </a:p>
        </p:txBody>
      </p:sp>
      <p:sp>
        <p:nvSpPr>
          <p:cNvPr id="1994888449" name="TextBox 14"/>
          <p:cNvSpPr txBox="1"/>
          <p:nvPr/>
        </p:nvSpPr>
        <p:spPr bwMode="auto">
          <a:xfrm>
            <a:off x="868680" y="8229600"/>
            <a:ext cx="16551000" cy="832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9AB4BE"/>
                </a:solidFill>
                <a:latin typeface="Calibri"/>
              </a:rPr>
              <a:t>Las pruebas verifican los métodos de negocio definidos en las historias de usuario: el cálculo del pago, el control de transiciones y la validación del saldo antes de usar horas compensadas.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567039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70287076" name="TextBox 3"/>
          <p:cNvSpPr txBox="1"/>
          <p:nvPr/>
        </p:nvSpPr>
        <p:spPr bwMode="auto">
          <a:xfrm>
            <a:off x="822960" y="457200"/>
            <a:ext cx="16642440" cy="8644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/>
            </a:pPr>
            <a:r>
              <a:rPr lang="es-ES" sz="5400" b="1" i="0">
                <a:solidFill>
                  <a:srgbClr val="E2D6BE"/>
                </a:solidFill>
                <a:latin typeface="Georgia"/>
              </a:rPr>
              <a:t>CAPTURAS DEL SISTEMA EN EJECUCIÓN</a:t>
            </a:r>
            <a:endParaRPr lang="es-ES"/>
          </a:p>
        </p:txBody>
      </p:sp>
      <p:pic>
        <p:nvPicPr>
          <p:cNvPr id="1645971778" name="Picture 4" descr="captura_menu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68680" y="1645920"/>
            <a:ext cx="3329035" cy="5120640"/>
          </a:xfrm>
          <a:prstGeom prst="rect">
            <a:avLst/>
          </a:prstGeom>
        </p:spPr>
      </p:pic>
      <p:sp>
        <p:nvSpPr>
          <p:cNvPr id="194460716" name="TextBox 5"/>
          <p:cNvSpPr txBox="1"/>
          <p:nvPr/>
        </p:nvSpPr>
        <p:spPr bwMode="auto">
          <a:xfrm>
            <a:off x="868680" y="6903720"/>
            <a:ext cx="4572360" cy="603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650" b="0" i="1">
                <a:solidFill>
                  <a:srgbClr val="9AB4BE"/>
                </a:solidFill>
                <a:latin typeface="Calibri"/>
              </a:rPr>
              <a:t>Menú principal: secciones, opciones numeradas y línea de estado</a:t>
            </a:r>
            <a:endParaRPr lang="es-ES"/>
          </a:p>
        </p:txBody>
      </p:sp>
      <p:pic>
        <p:nvPicPr>
          <p:cNvPr id="314382304" name="Picture 6" descr="captura_busqueda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35039" y="1645920"/>
            <a:ext cx="5760720" cy="2814523"/>
          </a:xfrm>
          <a:prstGeom prst="rect">
            <a:avLst/>
          </a:prstGeom>
        </p:spPr>
      </p:pic>
      <p:sp>
        <p:nvSpPr>
          <p:cNvPr id="807375067" name="TextBox 7"/>
          <p:cNvSpPr txBox="1"/>
          <p:nvPr/>
        </p:nvSpPr>
        <p:spPr bwMode="auto">
          <a:xfrm>
            <a:off x="6035039" y="4434840"/>
            <a:ext cx="5761080" cy="302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650" b="0" i="1">
                <a:solidFill>
                  <a:srgbClr val="9AB4BE"/>
                </a:solidFill>
                <a:latin typeface="Calibri"/>
              </a:rPr>
              <a:t>Ficha del empleado obtenida por código (E004, Ana Torres)</a:t>
            </a:r>
            <a:endParaRPr lang="es-ES"/>
          </a:p>
        </p:txBody>
      </p:sp>
      <p:pic>
        <p:nvPicPr>
          <p:cNvPr id="1651828474" name="Picture 8" descr="captura_validacion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035039" y="5029200"/>
            <a:ext cx="5760720" cy="2633472"/>
          </a:xfrm>
          <a:prstGeom prst="rect">
            <a:avLst/>
          </a:prstGeom>
        </p:spPr>
      </p:pic>
      <p:sp>
        <p:nvSpPr>
          <p:cNvPr id="1364200073" name="TextBox 9"/>
          <p:cNvSpPr txBox="1"/>
          <p:nvPr/>
        </p:nvSpPr>
        <p:spPr bwMode="auto">
          <a:xfrm>
            <a:off x="6035039" y="7818120"/>
            <a:ext cx="5761080" cy="603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650" b="0" i="1">
                <a:solidFill>
                  <a:srgbClr val="9AB4BE"/>
                </a:solidFill>
                <a:latin typeface="Calibri"/>
              </a:rPr>
              <a:t>Validación: criterio no numérico, fuera de rango y documento inexistente</a:t>
            </a:r>
            <a:endParaRPr lang="es-ES"/>
          </a:p>
        </p:txBody>
      </p:sp>
      <p:sp>
        <p:nvSpPr>
          <p:cNvPr id="2043512157" name="TextBox 10"/>
          <p:cNvSpPr txBox="1"/>
          <p:nvPr/>
        </p:nvSpPr>
        <p:spPr bwMode="auto">
          <a:xfrm>
            <a:off x="868680" y="7772400"/>
            <a:ext cx="4755240" cy="12187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9AB4BE"/>
                </a:solidFill>
                <a:latin typeface="Calibri"/>
              </a:rPr>
              <a:t>El menú nunca termina la sesión por un dato inválido: informa el motivo, descarta el dato y vuelve a pedirlo.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800096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25152071" name="TextBox 3"/>
          <p:cNvSpPr txBox="1"/>
          <p:nvPr/>
        </p:nvSpPr>
        <p:spPr bwMode="auto">
          <a:xfrm>
            <a:off x="822960" y="457200"/>
            <a:ext cx="16642440" cy="96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/>
            </a:pPr>
            <a:r>
              <a:rPr lang="es-ES" sz="6000" b="1" i="0">
                <a:solidFill>
                  <a:srgbClr val="E2D6BE"/>
                </a:solidFill>
                <a:latin typeface="Georgia"/>
              </a:rPr>
              <a:t>CONCLUSIONES DEL PROYECTO</a:t>
            </a:r>
            <a:endParaRPr lang="es-ES"/>
          </a:p>
        </p:txBody>
      </p:sp>
      <p:sp>
        <p:nvSpPr>
          <p:cNvPr id="766843023" name="Rectangle 4"/>
          <p:cNvSpPr/>
          <p:nvPr/>
        </p:nvSpPr>
        <p:spPr bwMode="auto">
          <a:xfrm>
            <a:off x="7223760" y="1554480"/>
            <a:ext cx="3840480" cy="22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693059206" name="Rounded Rectangle 5"/>
          <p:cNvSpPr/>
          <p:nvPr/>
        </p:nvSpPr>
        <p:spPr bwMode="auto">
          <a:xfrm>
            <a:off x="868680" y="2240280"/>
            <a:ext cx="8001000" cy="33832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795382067" name="TextBox 6"/>
          <p:cNvSpPr txBox="1"/>
          <p:nvPr/>
        </p:nvSpPr>
        <p:spPr bwMode="auto">
          <a:xfrm>
            <a:off x="1280160" y="2606040"/>
            <a:ext cx="1097640" cy="713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900" b="1" i="0">
                <a:solidFill>
                  <a:srgbClr val="7CCCF3"/>
                </a:solidFill>
                <a:latin typeface="Calibri"/>
              </a:rPr>
              <a:t>01</a:t>
            </a:r>
            <a:endParaRPr lang="es-ES"/>
          </a:p>
        </p:txBody>
      </p:sp>
      <p:sp>
        <p:nvSpPr>
          <p:cNvPr id="1723231107" name="TextBox 7"/>
          <p:cNvSpPr txBox="1"/>
          <p:nvPr/>
        </p:nvSpPr>
        <p:spPr bwMode="auto">
          <a:xfrm>
            <a:off x="1280160" y="3337560"/>
            <a:ext cx="7178399" cy="420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Calibri"/>
              </a:rPr>
              <a:t>LA POO ES UNA ALTERNATIVA VIABLE</a:t>
            </a:r>
            <a:endParaRPr lang="es-ES"/>
          </a:p>
        </p:txBody>
      </p:sp>
      <p:sp>
        <p:nvSpPr>
          <p:cNvPr id="755121181" name="TextBox 8"/>
          <p:cNvSpPr txBox="1"/>
          <p:nvPr/>
        </p:nvSpPr>
        <p:spPr bwMode="auto">
          <a:xfrm>
            <a:off x="1280160" y="4251960"/>
            <a:ext cx="7178399" cy="12187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La programación orientada a objetos permite formalizar los procesos de una empresa mediana y automatizar el control de horas.</a:t>
            </a:r>
            <a:endParaRPr lang="es-ES"/>
          </a:p>
        </p:txBody>
      </p:sp>
      <p:sp>
        <p:nvSpPr>
          <p:cNvPr id="1934986020" name="Rounded Rectangle 9"/>
          <p:cNvSpPr/>
          <p:nvPr/>
        </p:nvSpPr>
        <p:spPr bwMode="auto">
          <a:xfrm>
            <a:off x="9418320" y="2240280"/>
            <a:ext cx="8001000" cy="33832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704682790" name="TextBox 10"/>
          <p:cNvSpPr txBox="1"/>
          <p:nvPr/>
        </p:nvSpPr>
        <p:spPr bwMode="auto">
          <a:xfrm>
            <a:off x="9829800" y="2606040"/>
            <a:ext cx="1097640" cy="713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900" b="1" i="0">
                <a:solidFill>
                  <a:srgbClr val="7CCCF3"/>
                </a:solidFill>
                <a:latin typeface="Calibri"/>
              </a:rPr>
              <a:t>02</a:t>
            </a:r>
            <a:endParaRPr lang="es-ES"/>
          </a:p>
        </p:txBody>
      </p:sp>
      <p:sp>
        <p:nvSpPr>
          <p:cNvPr id="2063972794" name="TextBox 11"/>
          <p:cNvSpPr txBox="1"/>
          <p:nvPr/>
        </p:nvSpPr>
        <p:spPr bwMode="auto">
          <a:xfrm>
            <a:off x="9829800" y="3337560"/>
            <a:ext cx="7178399" cy="420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Calibri"/>
              </a:rPr>
              <a:t>EL MODELO REPRESENTA EL DOMINIO</a:t>
            </a:r>
            <a:endParaRPr lang="es-ES"/>
          </a:p>
        </p:txBody>
      </p:sp>
      <p:sp>
        <p:nvSpPr>
          <p:cNvPr id="428322679" name="TextBox 12"/>
          <p:cNvSpPr txBox="1"/>
          <p:nvPr/>
        </p:nvSpPr>
        <p:spPr bwMode="auto">
          <a:xfrm>
            <a:off x="9829800" y="4251960"/>
            <a:ext cx="7178399" cy="12187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Las tres jerarquías (Persona, RegistroHora y Solicitud) modelan fielmente el dominio y concentran las reglas de negocio en un solo lugar.</a:t>
            </a:r>
            <a:endParaRPr lang="es-ES"/>
          </a:p>
        </p:txBody>
      </p:sp>
      <p:sp>
        <p:nvSpPr>
          <p:cNvPr id="341470772" name="Rounded Rectangle 13"/>
          <p:cNvSpPr/>
          <p:nvPr/>
        </p:nvSpPr>
        <p:spPr bwMode="auto">
          <a:xfrm>
            <a:off x="868680" y="5989319"/>
            <a:ext cx="8001000" cy="33832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369948873" name="TextBox 14"/>
          <p:cNvSpPr txBox="1"/>
          <p:nvPr/>
        </p:nvSpPr>
        <p:spPr bwMode="auto">
          <a:xfrm>
            <a:off x="1280160" y="6355078"/>
            <a:ext cx="1097640" cy="713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900" b="1" i="0">
                <a:solidFill>
                  <a:srgbClr val="7CCCF3"/>
                </a:solidFill>
                <a:latin typeface="Calibri"/>
              </a:rPr>
              <a:t>03</a:t>
            </a:r>
            <a:endParaRPr lang="es-ES"/>
          </a:p>
        </p:txBody>
      </p:sp>
      <p:sp>
        <p:nvSpPr>
          <p:cNvPr id="19683839" name="TextBox 15"/>
          <p:cNvSpPr txBox="1"/>
          <p:nvPr/>
        </p:nvSpPr>
        <p:spPr bwMode="auto">
          <a:xfrm>
            <a:off x="1280160" y="7086598"/>
            <a:ext cx="7178399" cy="420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Calibri"/>
              </a:rPr>
              <a:t>LAS PRUEBAS RESPALDAN EL RESULTADO</a:t>
            </a:r>
            <a:endParaRPr lang="es-ES"/>
          </a:p>
        </p:txBody>
      </p:sp>
      <p:sp>
        <p:nvSpPr>
          <p:cNvPr id="588605606" name="TextBox 16"/>
          <p:cNvSpPr txBox="1"/>
          <p:nvPr/>
        </p:nvSpPr>
        <p:spPr bwMode="auto">
          <a:xfrm>
            <a:off x="1280160" y="8000998"/>
            <a:ext cx="7178399" cy="12187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Las 23 pruebas unitarias superadas demuestran que el cálculo del pago, el control de estados y la validación del saldo se comportan como se especificaba.</a:t>
            </a:r>
            <a:endParaRPr lang="es-ES"/>
          </a:p>
        </p:txBody>
      </p:sp>
      <p:sp>
        <p:nvSpPr>
          <p:cNvPr id="883312157" name="Rounded Rectangle 17"/>
          <p:cNvSpPr/>
          <p:nvPr/>
        </p:nvSpPr>
        <p:spPr bwMode="auto">
          <a:xfrm>
            <a:off x="9418320" y="5989319"/>
            <a:ext cx="8001000" cy="33832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079601693" name="TextBox 18"/>
          <p:cNvSpPr txBox="1"/>
          <p:nvPr/>
        </p:nvSpPr>
        <p:spPr bwMode="auto">
          <a:xfrm>
            <a:off x="9829800" y="6355078"/>
            <a:ext cx="1097640" cy="713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900" b="1" i="0">
                <a:solidFill>
                  <a:srgbClr val="7CCCF3"/>
                </a:solidFill>
                <a:latin typeface="Calibri"/>
              </a:rPr>
              <a:t>04</a:t>
            </a:r>
            <a:endParaRPr lang="es-ES"/>
          </a:p>
        </p:txBody>
      </p:sp>
      <p:sp>
        <p:nvSpPr>
          <p:cNvPr id="1437116515" name="TextBox 19"/>
          <p:cNvSpPr txBox="1"/>
          <p:nvPr/>
        </p:nvSpPr>
        <p:spPr bwMode="auto">
          <a:xfrm>
            <a:off x="9829800" y="7086598"/>
            <a:ext cx="7178399" cy="4209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Calibri"/>
              </a:rPr>
              <a:t>EL MANEJO DE ERRORES DA CONFIABILIDAD</a:t>
            </a:r>
            <a:endParaRPr lang="es-ES"/>
          </a:p>
        </p:txBody>
      </p:sp>
      <p:sp>
        <p:nvSpPr>
          <p:cNvPr id="379169307" name="TextBox 20"/>
          <p:cNvSpPr txBox="1"/>
          <p:nvPr/>
        </p:nvSpPr>
        <p:spPr bwMode="auto">
          <a:xfrm>
            <a:off x="9829800" y="8000998"/>
            <a:ext cx="7178399" cy="12187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El control de excepciones permite responder a datos inválidos sin detenerse, condición indispensable para una herramienta de uso diario.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067470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98237057" name="TextBox 3"/>
          <p:cNvSpPr txBox="1"/>
          <p:nvPr/>
        </p:nvSpPr>
        <p:spPr bwMode="auto">
          <a:xfrm>
            <a:off x="822960" y="457200"/>
            <a:ext cx="16642440" cy="96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/>
            </a:pPr>
            <a:r>
              <a:rPr lang="es-ES" sz="6000" b="1" i="0">
                <a:solidFill>
                  <a:srgbClr val="E2D6BE"/>
                </a:solidFill>
                <a:latin typeface="Georgia"/>
              </a:rPr>
              <a:t>RECOMENDACIONES</a:t>
            </a:r>
            <a:endParaRPr lang="es-ES"/>
          </a:p>
        </p:txBody>
      </p:sp>
      <p:sp>
        <p:nvSpPr>
          <p:cNvPr id="1859977127" name="Rectangle 4"/>
          <p:cNvSpPr/>
          <p:nvPr/>
        </p:nvSpPr>
        <p:spPr bwMode="auto">
          <a:xfrm>
            <a:off x="7406640" y="1554480"/>
            <a:ext cx="3474720" cy="22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581581487" name="Rounded Rectangle 5"/>
          <p:cNvSpPr/>
          <p:nvPr/>
        </p:nvSpPr>
        <p:spPr bwMode="auto">
          <a:xfrm>
            <a:off x="868680" y="2240280"/>
            <a:ext cx="8001000" cy="23317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925153624" name="Rectangle 6"/>
          <p:cNvSpPr/>
          <p:nvPr/>
        </p:nvSpPr>
        <p:spPr bwMode="auto">
          <a:xfrm>
            <a:off x="868680" y="2240280"/>
            <a:ext cx="82296" cy="233172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467011605" name="TextBox 7"/>
          <p:cNvSpPr txBox="1"/>
          <p:nvPr/>
        </p:nvSpPr>
        <p:spPr bwMode="auto">
          <a:xfrm>
            <a:off x="1325880" y="2532888"/>
            <a:ext cx="7041240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Calibri"/>
              </a:rPr>
              <a:t>PARA LA EMPRESA</a:t>
            </a:r>
            <a:endParaRPr lang="es-ES"/>
          </a:p>
        </p:txBody>
      </p:sp>
      <p:sp>
        <p:nvSpPr>
          <p:cNvPr id="1177155109" name="TextBox 8"/>
          <p:cNvSpPr txBox="1"/>
          <p:nvPr/>
        </p:nvSpPr>
        <p:spPr bwMode="auto">
          <a:xfrm>
            <a:off x="1325880" y="3108960"/>
            <a:ext cx="7041240" cy="8126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Utilizar el sistema como registro único de horas y conservar los reportes exportados como respaldo ante una eventual auditoría.</a:t>
            </a:r>
            <a:endParaRPr lang="es-ES"/>
          </a:p>
        </p:txBody>
      </p:sp>
      <p:sp>
        <p:nvSpPr>
          <p:cNvPr id="1018461224" name="Rounded Rectangle 9"/>
          <p:cNvSpPr/>
          <p:nvPr/>
        </p:nvSpPr>
        <p:spPr bwMode="auto">
          <a:xfrm>
            <a:off x="9418320" y="2240280"/>
            <a:ext cx="8001000" cy="23317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554121461" name="Rectangle 10"/>
          <p:cNvSpPr/>
          <p:nvPr/>
        </p:nvSpPr>
        <p:spPr bwMode="auto">
          <a:xfrm>
            <a:off x="9418320" y="2240280"/>
            <a:ext cx="82296" cy="233172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90875049" name="TextBox 11"/>
          <p:cNvSpPr txBox="1"/>
          <p:nvPr/>
        </p:nvSpPr>
        <p:spPr bwMode="auto">
          <a:xfrm>
            <a:off x="9875520" y="2532888"/>
            <a:ext cx="7041240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Calibri"/>
              </a:rPr>
              <a:t>PARA RR. HH.</a:t>
            </a:r>
            <a:endParaRPr lang="es-ES"/>
          </a:p>
        </p:txBody>
      </p:sp>
      <p:sp>
        <p:nvSpPr>
          <p:cNvPr id="687321655" name="TextBox 12"/>
          <p:cNvSpPr txBox="1"/>
          <p:nvPr/>
        </p:nvSpPr>
        <p:spPr bwMode="auto">
          <a:xfrm>
            <a:off x="9875520" y="3108960"/>
            <a:ext cx="7041240" cy="12187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Continuar el registro dentro del sistema y evitar el uso paralelo de cuadernos u hojas de cálculo, que fue la causa principal del problema.</a:t>
            </a:r>
            <a:endParaRPr lang="es-ES"/>
          </a:p>
        </p:txBody>
      </p:sp>
      <p:sp>
        <p:nvSpPr>
          <p:cNvPr id="1494252262" name="Rounded Rectangle 13"/>
          <p:cNvSpPr/>
          <p:nvPr/>
        </p:nvSpPr>
        <p:spPr bwMode="auto">
          <a:xfrm>
            <a:off x="868680" y="4892039"/>
            <a:ext cx="8001000" cy="23317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76066665" name="Rectangle 14"/>
          <p:cNvSpPr/>
          <p:nvPr/>
        </p:nvSpPr>
        <p:spPr bwMode="auto">
          <a:xfrm>
            <a:off x="868680" y="4892039"/>
            <a:ext cx="82296" cy="233172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327700906" name="TextBox 15"/>
          <p:cNvSpPr txBox="1"/>
          <p:nvPr/>
        </p:nvSpPr>
        <p:spPr bwMode="auto">
          <a:xfrm>
            <a:off x="1325880" y="5184648"/>
            <a:ext cx="7041240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Calibri"/>
              </a:rPr>
              <a:t>PARA FUTURAS VERSIONES</a:t>
            </a:r>
            <a:endParaRPr lang="es-ES"/>
          </a:p>
        </p:txBody>
      </p:sp>
      <p:sp>
        <p:nvSpPr>
          <p:cNvPr id="56548909" name="TextBox 16"/>
          <p:cNvSpPr txBox="1"/>
          <p:nvPr/>
        </p:nvSpPr>
        <p:spPr bwMode="auto">
          <a:xfrm>
            <a:off x="1325880" y="5760720"/>
            <a:ext cx="7041240" cy="12187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Extender el cálculo a CTS (gratificaciones, bonificaciones y horas de CTS), cargar la planilla del personal y exportar reportes en PDF y Excel.</a:t>
            </a:r>
            <a:endParaRPr lang="es-ES"/>
          </a:p>
        </p:txBody>
      </p:sp>
      <p:sp>
        <p:nvSpPr>
          <p:cNvPr id="342885617" name="Rounded Rectangle 17"/>
          <p:cNvSpPr/>
          <p:nvPr/>
        </p:nvSpPr>
        <p:spPr bwMode="auto">
          <a:xfrm>
            <a:off x="9418320" y="4892039"/>
            <a:ext cx="8001000" cy="23317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60902984" name="Rectangle 18"/>
          <p:cNvSpPr/>
          <p:nvPr/>
        </p:nvSpPr>
        <p:spPr bwMode="auto">
          <a:xfrm>
            <a:off x="9418320" y="4892039"/>
            <a:ext cx="82296" cy="233172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871253497" name="TextBox 19"/>
          <p:cNvSpPr txBox="1"/>
          <p:nvPr/>
        </p:nvSpPr>
        <p:spPr bwMode="auto">
          <a:xfrm>
            <a:off x="9875520" y="5184648"/>
            <a:ext cx="7041240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Calibri"/>
              </a:rPr>
              <a:t>PARA EL MANTENIMIENTO</a:t>
            </a:r>
            <a:endParaRPr lang="es-ES"/>
          </a:p>
        </p:txBody>
      </p:sp>
      <p:sp>
        <p:nvSpPr>
          <p:cNvPr id="1720635985" name="TextBox 20"/>
          <p:cNvSpPr txBox="1"/>
          <p:nvPr/>
        </p:nvSpPr>
        <p:spPr bwMode="auto">
          <a:xfrm>
            <a:off x="9875520" y="5760720"/>
            <a:ext cx="7041240" cy="12187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Conservar la disciplina de escribir pruebas unitarias antes de cada modificación: son las que detectan regresiones en el cálculo de pagos.</a:t>
            </a:r>
            <a:endParaRPr lang="es-ES"/>
          </a:p>
        </p:txBody>
      </p:sp>
      <p:sp>
        <p:nvSpPr>
          <p:cNvPr id="234399257" name="Rounded Rectangle 21"/>
          <p:cNvSpPr/>
          <p:nvPr/>
        </p:nvSpPr>
        <p:spPr bwMode="auto">
          <a:xfrm>
            <a:off x="868680" y="7543800"/>
            <a:ext cx="16550640" cy="14173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911202974" name="Rectangle 22"/>
          <p:cNvSpPr/>
          <p:nvPr/>
        </p:nvSpPr>
        <p:spPr bwMode="auto">
          <a:xfrm>
            <a:off x="868680" y="7543800"/>
            <a:ext cx="82296" cy="141732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885520338" name="TextBox 23"/>
          <p:cNvSpPr txBox="1"/>
          <p:nvPr/>
        </p:nvSpPr>
        <p:spPr bwMode="auto">
          <a:xfrm>
            <a:off x="1325880" y="7790687"/>
            <a:ext cx="15728040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Calibri"/>
              </a:rPr>
              <a:t>PARA EL EQUIPO ACADÉMICO</a:t>
            </a:r>
            <a:endParaRPr lang="es-ES"/>
          </a:p>
        </p:txBody>
      </p:sp>
      <p:sp>
        <p:nvSpPr>
          <p:cNvPr id="747685674" name="TextBox 24"/>
          <p:cNvSpPr txBox="1"/>
          <p:nvPr/>
        </p:nvSpPr>
        <p:spPr bwMode="auto">
          <a:xfrm>
            <a:off x="1325880" y="8339326"/>
            <a:ext cx="15728040" cy="3908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Replicar la priorización de historias de usuario, el control de versiones con Git y la gestión de tareas con Trello en los siguientes trabajos.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953780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67717084" name="TextBox 3"/>
          <p:cNvSpPr txBox="1"/>
          <p:nvPr/>
        </p:nvSpPr>
        <p:spPr bwMode="auto">
          <a:xfrm>
            <a:off x="822960" y="457200"/>
            <a:ext cx="16642440" cy="16325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/>
            </a:pPr>
            <a:r>
              <a:rPr lang="es-ES" sz="5100" b="1" i="0">
                <a:solidFill>
                  <a:srgbClr val="E2D6BE"/>
                </a:solidFill>
                <a:latin typeface="Georgia"/>
              </a:rPr>
              <a:t>OBJETIVO DEL ESTUDIANTE (STUDENT OUTCOME)</a:t>
            </a:r>
            <a:endParaRPr lang="es-ES"/>
          </a:p>
        </p:txBody>
      </p:sp>
      <p:sp>
        <p:nvSpPr>
          <p:cNvPr id="275463368" name="TextBox 4"/>
          <p:cNvSpPr txBox="1"/>
          <p:nvPr/>
        </p:nvSpPr>
        <p:spPr bwMode="auto">
          <a:xfrm>
            <a:off x="868680" y="1371600"/>
            <a:ext cx="16551000" cy="41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250" b="0" i="0">
                <a:solidFill>
                  <a:srgbClr val="F0F4F6"/>
                </a:solidFill>
                <a:latin typeface="Calibri"/>
              </a:rPr>
              <a:t>Al finalizar el trabajo, el estudiante es capaz de:</a:t>
            </a:r>
            <a:endParaRPr lang="es-ES"/>
          </a:p>
        </p:txBody>
      </p:sp>
      <p:sp>
        <p:nvSpPr>
          <p:cNvPr id="302158197" name="Rounded Rectangle 5"/>
          <p:cNvSpPr/>
          <p:nvPr/>
        </p:nvSpPr>
        <p:spPr bwMode="auto">
          <a:xfrm>
            <a:off x="868680" y="2103120"/>
            <a:ext cx="8001000" cy="16459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387435435" name="TextBox 6"/>
          <p:cNvSpPr txBox="1"/>
          <p:nvPr/>
        </p:nvSpPr>
        <p:spPr bwMode="auto">
          <a:xfrm>
            <a:off x="1252728" y="2359152"/>
            <a:ext cx="914760" cy="521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850" b="1" i="0">
                <a:solidFill>
                  <a:srgbClr val="A8DADC"/>
                </a:solidFill>
                <a:latin typeface="Calibri"/>
              </a:rPr>
              <a:t>1</a:t>
            </a:r>
            <a:endParaRPr lang="es-ES"/>
          </a:p>
        </p:txBody>
      </p:sp>
      <p:sp>
        <p:nvSpPr>
          <p:cNvPr id="1558040156" name="TextBox 7"/>
          <p:cNvSpPr txBox="1"/>
          <p:nvPr/>
        </p:nvSpPr>
        <p:spPr bwMode="auto">
          <a:xfrm>
            <a:off x="2194560" y="2340864"/>
            <a:ext cx="6309720" cy="7433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1950" b="0" i="0">
                <a:solidFill>
                  <a:srgbClr val="F0F4F6"/>
                </a:solidFill>
                <a:latin typeface="Calibri"/>
              </a:rPr>
              <a:t>Analizar un problema real de una organización e identificar sus causas, consecuencias y necesidades de información.</a:t>
            </a:r>
            <a:endParaRPr lang="es-ES"/>
          </a:p>
        </p:txBody>
      </p:sp>
      <p:sp>
        <p:nvSpPr>
          <p:cNvPr id="836471479" name="Rounded Rectangle 8"/>
          <p:cNvSpPr/>
          <p:nvPr/>
        </p:nvSpPr>
        <p:spPr bwMode="auto">
          <a:xfrm>
            <a:off x="9418320" y="2103120"/>
            <a:ext cx="8001000" cy="16459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110848874" name="TextBox 9"/>
          <p:cNvSpPr txBox="1"/>
          <p:nvPr/>
        </p:nvSpPr>
        <p:spPr bwMode="auto">
          <a:xfrm>
            <a:off x="9802368" y="2359152"/>
            <a:ext cx="914760" cy="521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850" b="1" i="0">
                <a:solidFill>
                  <a:srgbClr val="A8DADC"/>
                </a:solidFill>
                <a:latin typeface="Calibri"/>
              </a:rPr>
              <a:t>2</a:t>
            </a:r>
            <a:endParaRPr lang="es-ES"/>
          </a:p>
        </p:txBody>
      </p:sp>
      <p:sp>
        <p:nvSpPr>
          <p:cNvPr id="2119682443" name="TextBox 10"/>
          <p:cNvSpPr txBox="1"/>
          <p:nvPr/>
        </p:nvSpPr>
        <p:spPr bwMode="auto">
          <a:xfrm>
            <a:off x="10744200" y="2340864"/>
            <a:ext cx="6309720" cy="1114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1950" b="0" i="0">
                <a:solidFill>
                  <a:srgbClr val="F0F4F6"/>
                </a:solidFill>
                <a:latin typeface="Calibri"/>
              </a:rPr>
              <a:t>Modelar un sistema mediante clases, identificando atributos, métodos y relaciones de herencia, asociación, agregación y composición.</a:t>
            </a:r>
            <a:endParaRPr lang="es-ES"/>
          </a:p>
        </p:txBody>
      </p:sp>
      <p:sp>
        <p:nvSpPr>
          <p:cNvPr id="668035276" name="Rounded Rectangle 11"/>
          <p:cNvSpPr/>
          <p:nvPr/>
        </p:nvSpPr>
        <p:spPr bwMode="auto">
          <a:xfrm>
            <a:off x="868680" y="3977639"/>
            <a:ext cx="8001000" cy="16459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454022602" name="TextBox 12"/>
          <p:cNvSpPr txBox="1"/>
          <p:nvPr/>
        </p:nvSpPr>
        <p:spPr bwMode="auto">
          <a:xfrm>
            <a:off x="1252728" y="4233670"/>
            <a:ext cx="914760" cy="521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850" b="1" i="0">
                <a:solidFill>
                  <a:srgbClr val="A8DADC"/>
                </a:solidFill>
                <a:latin typeface="Calibri"/>
              </a:rPr>
              <a:t>3</a:t>
            </a:r>
            <a:endParaRPr lang="es-ES"/>
          </a:p>
        </p:txBody>
      </p:sp>
      <p:sp>
        <p:nvSpPr>
          <p:cNvPr id="1336321450" name="TextBox 13"/>
          <p:cNvSpPr txBox="1"/>
          <p:nvPr/>
        </p:nvSpPr>
        <p:spPr bwMode="auto">
          <a:xfrm>
            <a:off x="2194560" y="4215382"/>
            <a:ext cx="6309720" cy="7433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1950" b="0" i="0">
                <a:solidFill>
                  <a:srgbClr val="F0F4F6"/>
                </a:solidFill>
                <a:latin typeface="Calibri"/>
              </a:rPr>
              <a:t>Aplicar los principios de POO: abstracción, encapsulamiento, herencia y polimorfismo.</a:t>
            </a:r>
            <a:endParaRPr lang="es-ES"/>
          </a:p>
        </p:txBody>
      </p:sp>
      <p:sp>
        <p:nvSpPr>
          <p:cNvPr id="854224643" name="Rounded Rectangle 14"/>
          <p:cNvSpPr/>
          <p:nvPr/>
        </p:nvSpPr>
        <p:spPr bwMode="auto">
          <a:xfrm>
            <a:off x="9418320" y="3977639"/>
            <a:ext cx="8001000" cy="16459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417571647" name="TextBox 15"/>
          <p:cNvSpPr txBox="1"/>
          <p:nvPr/>
        </p:nvSpPr>
        <p:spPr bwMode="auto">
          <a:xfrm>
            <a:off x="9802368" y="4233670"/>
            <a:ext cx="914760" cy="521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850" b="1" i="0">
                <a:solidFill>
                  <a:srgbClr val="A8DADC"/>
                </a:solidFill>
                <a:latin typeface="Calibri"/>
              </a:rPr>
              <a:t>4</a:t>
            </a:r>
            <a:endParaRPr lang="es-ES"/>
          </a:p>
        </p:txBody>
      </p:sp>
      <p:sp>
        <p:nvSpPr>
          <p:cNvPr id="2046845685" name="TextBox 16"/>
          <p:cNvSpPr txBox="1"/>
          <p:nvPr/>
        </p:nvSpPr>
        <p:spPr bwMode="auto">
          <a:xfrm>
            <a:off x="10744200" y="4215382"/>
            <a:ext cx="6309720" cy="7433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1950" b="0" i="0">
                <a:solidFill>
                  <a:srgbClr val="F0F4F6"/>
                </a:solidFill>
                <a:latin typeface="Calibri"/>
              </a:rPr>
              <a:t>Especificar funcionalidades mediante historias de usuario priorizadas y derivar sus criterios de aceptación.</a:t>
            </a:r>
            <a:endParaRPr lang="es-ES"/>
          </a:p>
        </p:txBody>
      </p:sp>
      <p:sp>
        <p:nvSpPr>
          <p:cNvPr id="266407328" name="Rounded Rectangle 17"/>
          <p:cNvSpPr/>
          <p:nvPr/>
        </p:nvSpPr>
        <p:spPr bwMode="auto">
          <a:xfrm>
            <a:off x="868680" y="5852158"/>
            <a:ext cx="8001000" cy="16459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394683884" name="TextBox 18"/>
          <p:cNvSpPr txBox="1"/>
          <p:nvPr/>
        </p:nvSpPr>
        <p:spPr bwMode="auto">
          <a:xfrm>
            <a:off x="1252728" y="6108189"/>
            <a:ext cx="914760" cy="521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850" b="1" i="0">
                <a:solidFill>
                  <a:srgbClr val="A8DADC"/>
                </a:solidFill>
                <a:latin typeface="Calibri"/>
              </a:rPr>
              <a:t>5</a:t>
            </a:r>
            <a:endParaRPr lang="es-ES"/>
          </a:p>
        </p:txBody>
      </p:sp>
      <p:sp>
        <p:nvSpPr>
          <p:cNvPr id="1039456367" name="TextBox 19"/>
          <p:cNvSpPr txBox="1"/>
          <p:nvPr/>
        </p:nvSpPr>
        <p:spPr bwMode="auto">
          <a:xfrm>
            <a:off x="2194560" y="6089901"/>
            <a:ext cx="6309720" cy="7433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1950" b="0" i="0">
                <a:solidFill>
                  <a:srgbClr val="F0F4F6"/>
                </a:solidFill>
                <a:latin typeface="Calibri"/>
              </a:rPr>
              <a:t>Traducir un modelo de clases a código funcional en Python con la biblioteca estándar.</a:t>
            </a:r>
            <a:endParaRPr lang="es-ES"/>
          </a:p>
        </p:txBody>
      </p:sp>
      <p:sp>
        <p:nvSpPr>
          <p:cNvPr id="1296066589" name="Rounded Rectangle 20"/>
          <p:cNvSpPr/>
          <p:nvPr/>
        </p:nvSpPr>
        <p:spPr bwMode="auto">
          <a:xfrm>
            <a:off x="9418320" y="5852158"/>
            <a:ext cx="8001000" cy="16459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658009713" name="TextBox 21"/>
          <p:cNvSpPr txBox="1"/>
          <p:nvPr/>
        </p:nvSpPr>
        <p:spPr bwMode="auto">
          <a:xfrm>
            <a:off x="9802368" y="6108189"/>
            <a:ext cx="914760" cy="521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850" b="1" i="0">
                <a:solidFill>
                  <a:srgbClr val="A8DADC"/>
                </a:solidFill>
                <a:latin typeface="Calibri"/>
              </a:rPr>
              <a:t>6</a:t>
            </a:r>
            <a:endParaRPr lang="es-ES"/>
          </a:p>
        </p:txBody>
      </p:sp>
      <p:sp>
        <p:nvSpPr>
          <p:cNvPr id="1132352206" name="TextBox 22"/>
          <p:cNvSpPr txBox="1"/>
          <p:nvPr/>
        </p:nvSpPr>
        <p:spPr bwMode="auto">
          <a:xfrm>
            <a:off x="10744200" y="6089901"/>
            <a:ext cx="6309720" cy="7433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1950" b="0" i="0">
                <a:solidFill>
                  <a:srgbClr val="F0F4F6"/>
                </a:solidFill>
                <a:latin typeface="Calibri"/>
              </a:rPr>
              <a:t>Verificar el comportamiento mediante pruebas unitarias automatizadas y gestionar errores con excepciones propias.</a:t>
            </a:r>
            <a:endParaRPr lang="es-ES"/>
          </a:p>
        </p:txBody>
      </p:sp>
      <p:sp>
        <p:nvSpPr>
          <p:cNvPr id="2136707447" name="Rounded Rectangle 23"/>
          <p:cNvSpPr/>
          <p:nvPr/>
        </p:nvSpPr>
        <p:spPr bwMode="auto">
          <a:xfrm>
            <a:off x="868680" y="7726677"/>
            <a:ext cx="8001000" cy="164592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905675964" name="TextBox 24"/>
          <p:cNvSpPr txBox="1"/>
          <p:nvPr/>
        </p:nvSpPr>
        <p:spPr bwMode="auto">
          <a:xfrm>
            <a:off x="1252728" y="7982708"/>
            <a:ext cx="914760" cy="521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850" b="1" i="0">
                <a:solidFill>
                  <a:srgbClr val="A8DADC"/>
                </a:solidFill>
                <a:latin typeface="Calibri"/>
              </a:rPr>
              <a:t>7</a:t>
            </a:r>
            <a:endParaRPr lang="es-ES"/>
          </a:p>
        </p:txBody>
      </p:sp>
      <p:sp>
        <p:nvSpPr>
          <p:cNvPr id="900174072" name="TextBox 25"/>
          <p:cNvSpPr txBox="1"/>
          <p:nvPr/>
        </p:nvSpPr>
        <p:spPr bwMode="auto">
          <a:xfrm>
            <a:off x="2194560" y="7964420"/>
            <a:ext cx="6309720" cy="7433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1950" b="0" i="0">
                <a:solidFill>
                  <a:srgbClr val="F0F4F6"/>
                </a:solidFill>
                <a:latin typeface="Calibri"/>
              </a:rPr>
              <a:t>Trabajar en equipo con Git, Trello y documentos de edición compartida.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322361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76324014" name="TextBox 3"/>
          <p:cNvSpPr txBox="1"/>
          <p:nvPr/>
        </p:nvSpPr>
        <p:spPr bwMode="auto">
          <a:xfrm>
            <a:off x="822960" y="457200"/>
            <a:ext cx="16642440" cy="8644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/>
            </a:pPr>
            <a:r>
              <a:rPr lang="es-ES" sz="5400" b="1" i="0">
                <a:solidFill>
                  <a:srgbClr val="E2D6BE"/>
                </a:solidFill>
                <a:latin typeface="Georgia"/>
              </a:rPr>
              <a:t>EVIDENCIAS DEL TRABAJO EN EQUIPO</a:t>
            </a:r>
            <a:endParaRPr lang="es-ES"/>
          </a:p>
        </p:txBody>
      </p:sp>
      <p:sp>
        <p:nvSpPr>
          <p:cNvPr id="1972618230" name="TextBox 4"/>
          <p:cNvSpPr txBox="1"/>
          <p:nvPr/>
        </p:nvSpPr>
        <p:spPr bwMode="auto">
          <a:xfrm>
            <a:off x="868680" y="1371600"/>
            <a:ext cx="16551000" cy="4461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250" b="0" i="0">
                <a:solidFill>
                  <a:srgbClr val="F0F4F6"/>
                </a:solidFill>
                <a:latin typeface="Calibri"/>
              </a:rPr>
              <a:t>El trabajo se organizó con una carpeta compartida en Google Drive, control de versiones con Git y seguimiento de tareas en Trello.</a:t>
            </a:r>
            <a:endParaRPr lang="es-ES"/>
          </a:p>
        </p:txBody>
      </p:sp>
      <p:sp>
        <p:nvSpPr>
          <p:cNvPr id="1968280503" name="Rounded Rectangle 5"/>
          <p:cNvSpPr/>
          <p:nvPr/>
        </p:nvSpPr>
        <p:spPr bwMode="auto">
          <a:xfrm>
            <a:off x="868680" y="2377440"/>
            <a:ext cx="8001000" cy="29260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083819930" name="TextBox 6"/>
          <p:cNvSpPr txBox="1"/>
          <p:nvPr/>
        </p:nvSpPr>
        <p:spPr bwMode="auto">
          <a:xfrm>
            <a:off x="1280160" y="2788920"/>
            <a:ext cx="914760" cy="713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900" b="1" i="0">
                <a:solidFill>
                  <a:srgbClr val="7CCCF3"/>
                </a:solidFill>
                <a:latin typeface="Calibri"/>
              </a:rPr>
              <a:t>01</a:t>
            </a:r>
            <a:endParaRPr lang="es-ES"/>
          </a:p>
        </p:txBody>
      </p:sp>
      <p:sp>
        <p:nvSpPr>
          <p:cNvPr id="1180601818" name="TextBox 7"/>
          <p:cNvSpPr txBox="1"/>
          <p:nvPr/>
        </p:nvSpPr>
        <p:spPr bwMode="auto">
          <a:xfrm>
            <a:off x="1280160" y="3566160"/>
            <a:ext cx="7178399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Calibri"/>
              </a:rPr>
              <a:t>CARPETA COMPARTIDA</a:t>
            </a:r>
            <a:endParaRPr lang="es-ES"/>
          </a:p>
        </p:txBody>
      </p:sp>
      <p:sp>
        <p:nvSpPr>
          <p:cNvPr id="1215885262" name="TextBox 8"/>
          <p:cNvSpPr txBox="1"/>
          <p:nvPr/>
        </p:nvSpPr>
        <p:spPr bwMode="auto">
          <a:xfrm>
            <a:off x="1280160" y="4160519"/>
            <a:ext cx="7178399" cy="8126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Enunciado, propuesta, informe y anexos en una misma carpeta de Drive con permisos de edición para los tres integrantes.</a:t>
            </a:r>
            <a:endParaRPr lang="es-ES"/>
          </a:p>
        </p:txBody>
      </p:sp>
      <p:sp>
        <p:nvSpPr>
          <p:cNvPr id="1923554752" name="Rounded Rectangle 9"/>
          <p:cNvSpPr/>
          <p:nvPr/>
        </p:nvSpPr>
        <p:spPr bwMode="auto">
          <a:xfrm>
            <a:off x="9418320" y="2377440"/>
            <a:ext cx="8001000" cy="29260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856053622" name="TextBox 10"/>
          <p:cNvSpPr txBox="1"/>
          <p:nvPr/>
        </p:nvSpPr>
        <p:spPr bwMode="auto">
          <a:xfrm>
            <a:off x="9829800" y="2788920"/>
            <a:ext cx="914760" cy="713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900" b="1" i="0">
                <a:solidFill>
                  <a:srgbClr val="7CCCF3"/>
                </a:solidFill>
                <a:latin typeface="Calibri"/>
              </a:rPr>
              <a:t>02</a:t>
            </a:r>
            <a:endParaRPr lang="es-ES"/>
          </a:p>
        </p:txBody>
      </p:sp>
      <p:sp>
        <p:nvSpPr>
          <p:cNvPr id="847829543" name="TextBox 11"/>
          <p:cNvSpPr txBox="1"/>
          <p:nvPr/>
        </p:nvSpPr>
        <p:spPr bwMode="auto">
          <a:xfrm>
            <a:off x="9829800" y="3566160"/>
            <a:ext cx="7178399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Calibri"/>
              </a:rPr>
              <a:t>CONTROL DE VERSIONES</a:t>
            </a:r>
            <a:endParaRPr lang="es-ES"/>
          </a:p>
        </p:txBody>
      </p:sp>
      <p:sp>
        <p:nvSpPr>
          <p:cNvPr id="1056198603" name="TextBox 12"/>
          <p:cNvSpPr txBox="1"/>
          <p:nvPr/>
        </p:nvSpPr>
        <p:spPr bwMode="auto">
          <a:xfrm>
            <a:off x="9829800" y="4160519"/>
            <a:ext cx="7178399" cy="8126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Repositorio en GitHub con un commit por entrega: historial completo del código y del informe.</a:t>
            </a:r>
            <a:endParaRPr lang="es-ES"/>
          </a:p>
        </p:txBody>
      </p:sp>
      <p:sp>
        <p:nvSpPr>
          <p:cNvPr id="1836673105" name="Rounded Rectangle 13"/>
          <p:cNvSpPr/>
          <p:nvPr/>
        </p:nvSpPr>
        <p:spPr bwMode="auto">
          <a:xfrm>
            <a:off x="868680" y="5669280"/>
            <a:ext cx="8001000" cy="29260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080015536" name="TextBox 14"/>
          <p:cNvSpPr txBox="1"/>
          <p:nvPr/>
        </p:nvSpPr>
        <p:spPr bwMode="auto">
          <a:xfrm>
            <a:off x="1280160" y="6080760"/>
            <a:ext cx="914760" cy="713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900" b="1" i="0">
                <a:solidFill>
                  <a:srgbClr val="7CCCF3"/>
                </a:solidFill>
                <a:latin typeface="Calibri"/>
              </a:rPr>
              <a:t>03</a:t>
            </a:r>
            <a:endParaRPr lang="es-ES"/>
          </a:p>
        </p:txBody>
      </p:sp>
      <p:sp>
        <p:nvSpPr>
          <p:cNvPr id="2093817579" name="TextBox 15"/>
          <p:cNvSpPr txBox="1"/>
          <p:nvPr/>
        </p:nvSpPr>
        <p:spPr bwMode="auto">
          <a:xfrm>
            <a:off x="1280160" y="6858000"/>
            <a:ext cx="7178399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Calibri"/>
              </a:rPr>
              <a:t>GESTIÓN DE TAREAS</a:t>
            </a:r>
            <a:endParaRPr lang="es-ES"/>
          </a:p>
        </p:txBody>
      </p:sp>
      <p:sp>
        <p:nvSpPr>
          <p:cNvPr id="160397181" name="TextBox 16"/>
          <p:cNvSpPr txBox="1"/>
          <p:nvPr/>
        </p:nvSpPr>
        <p:spPr bwMode="auto">
          <a:xfrm>
            <a:off x="1280160" y="7452360"/>
            <a:ext cx="7178399" cy="8126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Tablero de Trello con el cronograma del documento, la asignación de responsables y el seguimiento semanal.</a:t>
            </a:r>
            <a:endParaRPr lang="es-ES"/>
          </a:p>
        </p:txBody>
      </p:sp>
      <p:sp>
        <p:nvSpPr>
          <p:cNvPr id="2128137985" name="Rounded Rectangle 17"/>
          <p:cNvSpPr/>
          <p:nvPr/>
        </p:nvSpPr>
        <p:spPr bwMode="auto">
          <a:xfrm>
            <a:off x="9418320" y="5669280"/>
            <a:ext cx="8001000" cy="29260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796047525" name="TextBox 18"/>
          <p:cNvSpPr txBox="1"/>
          <p:nvPr/>
        </p:nvSpPr>
        <p:spPr bwMode="auto">
          <a:xfrm>
            <a:off x="9829800" y="6080760"/>
            <a:ext cx="914760" cy="713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3900" b="1" i="0">
                <a:solidFill>
                  <a:srgbClr val="7CCCF3"/>
                </a:solidFill>
                <a:latin typeface="Calibri"/>
              </a:rPr>
              <a:t>04</a:t>
            </a:r>
            <a:endParaRPr lang="es-ES"/>
          </a:p>
        </p:txBody>
      </p:sp>
      <p:sp>
        <p:nvSpPr>
          <p:cNvPr id="320843307" name="TextBox 19"/>
          <p:cNvSpPr txBox="1"/>
          <p:nvPr/>
        </p:nvSpPr>
        <p:spPr bwMode="auto">
          <a:xfrm>
            <a:off x="9829800" y="6858000"/>
            <a:ext cx="7178399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400" b="1" i="0">
                <a:solidFill>
                  <a:srgbClr val="A8DADC"/>
                </a:solidFill>
                <a:latin typeface="Calibri"/>
              </a:rPr>
              <a:t>REVISIÓN ENTRE PARES</a:t>
            </a:r>
            <a:endParaRPr lang="es-ES"/>
          </a:p>
        </p:txBody>
      </p:sp>
      <p:sp>
        <p:nvSpPr>
          <p:cNvPr id="1496837426" name="TextBox 20"/>
          <p:cNvSpPr txBox="1"/>
          <p:nvPr/>
        </p:nvSpPr>
        <p:spPr bwMode="auto">
          <a:xfrm>
            <a:off x="9829800" y="7452360"/>
            <a:ext cx="7178399" cy="8126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050" b="0" i="0">
                <a:solidFill>
                  <a:srgbClr val="F0F4F6"/>
                </a:solidFill>
                <a:latin typeface="Calibri"/>
              </a:rPr>
              <a:t>Versiones sucesivas del diagrama de clases y del menú, con comentarios de revisión antes de cada entrega.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08841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676526486" name="TextBox 3"/>
          <p:cNvSpPr txBox="1"/>
          <p:nvPr/>
        </p:nvSpPr>
        <p:spPr bwMode="auto">
          <a:xfrm>
            <a:off x="822960" y="457200"/>
            <a:ext cx="16642440" cy="9124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/>
            </a:pPr>
            <a:r>
              <a:rPr lang="es-ES" sz="5700" b="1" i="0">
                <a:solidFill>
                  <a:srgbClr val="E2D6BE"/>
                </a:solidFill>
                <a:latin typeface="Georgia"/>
              </a:rPr>
              <a:t>REPOSITORIO Y REFERENCIAS TÉCNICAS</a:t>
            </a:r>
            <a:endParaRPr lang="es-ES"/>
          </a:p>
        </p:txBody>
      </p:sp>
      <p:sp>
        <p:nvSpPr>
          <p:cNvPr id="876800236" name="Rounded Rectangle 4"/>
          <p:cNvSpPr/>
          <p:nvPr/>
        </p:nvSpPr>
        <p:spPr bwMode="auto">
          <a:xfrm>
            <a:off x="868680" y="1783080"/>
            <a:ext cx="8412480" cy="47548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119025524" name="TextBox 5"/>
          <p:cNvSpPr txBox="1"/>
          <p:nvPr/>
        </p:nvSpPr>
        <p:spPr bwMode="auto">
          <a:xfrm>
            <a:off x="1280160" y="2148840"/>
            <a:ext cx="7589880" cy="466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550" b="1" i="0">
                <a:solidFill>
                  <a:srgbClr val="A8DADC"/>
                </a:solidFill>
                <a:latin typeface="Georgia"/>
              </a:rPr>
              <a:t>REPOSITORIO</a:t>
            </a:r>
            <a:endParaRPr lang="es-ES"/>
          </a:p>
        </p:txBody>
      </p:sp>
      <p:sp>
        <p:nvSpPr>
          <p:cNvPr id="876929507" name="TextBox 6"/>
          <p:cNvSpPr txBox="1"/>
          <p:nvPr/>
        </p:nvSpPr>
        <p:spPr bwMode="auto">
          <a:xfrm>
            <a:off x="1280160" y="2743200"/>
            <a:ext cx="7589880" cy="4004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7CCCF3"/>
                </a:solidFill>
                <a:latin typeface="Consolas"/>
              </a:rPr>
              <a:t>github.com/marlo4220mc/sistema-horas-extras</a:t>
            </a:r>
            <a:endParaRPr lang="es-ES"/>
          </a:p>
        </p:txBody>
      </p:sp>
      <p:sp>
        <p:nvSpPr>
          <p:cNvPr id="733783933" name="TextBox 7"/>
          <p:cNvSpPr txBox="1"/>
          <p:nvPr/>
        </p:nvSpPr>
        <p:spPr bwMode="auto">
          <a:xfrm>
            <a:off x="1280160" y="3657600"/>
            <a:ext cx="7589880" cy="12485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Contiene el código fuente, la suite de pruebas unitarias, los diagramas editables en drawio/, las imágenes exportadas en salida/ y el informe del trabajo parcial.</a:t>
            </a:r>
            <a:endParaRPr lang="es-ES"/>
          </a:p>
        </p:txBody>
      </p:sp>
      <p:sp>
        <p:nvSpPr>
          <p:cNvPr id="914146832" name="Rounded Rectangle 8"/>
          <p:cNvSpPr/>
          <p:nvPr/>
        </p:nvSpPr>
        <p:spPr bwMode="auto">
          <a:xfrm>
            <a:off x="9555480" y="1783080"/>
            <a:ext cx="7863840" cy="475488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404827350" name="TextBox 9"/>
          <p:cNvSpPr txBox="1"/>
          <p:nvPr/>
        </p:nvSpPr>
        <p:spPr bwMode="auto">
          <a:xfrm>
            <a:off x="9966960" y="2148840"/>
            <a:ext cx="7041240" cy="466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550" b="1" i="0">
                <a:solidFill>
                  <a:srgbClr val="A8DADC"/>
                </a:solidFill>
                <a:latin typeface="Georgia"/>
              </a:rPr>
              <a:t>FUNDAMENTOS TEÓRICOS</a:t>
            </a:r>
            <a:endParaRPr lang="es-ES"/>
          </a:p>
        </p:txBody>
      </p:sp>
      <p:sp>
        <p:nvSpPr>
          <p:cNvPr id="385103123" name="TextBox 10"/>
          <p:cNvSpPr txBox="1"/>
          <p:nvPr/>
        </p:nvSpPr>
        <p:spPr bwMode="auto">
          <a:xfrm>
            <a:off x="9966960" y="2743200"/>
            <a:ext cx="7041240" cy="23854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Python: "Learning Python" (Lutz) y "El Libro de Python".</a:t>
            </a:r>
            <a:endParaRPr lang="es-ES"/>
          </a:p>
          <a:p>
            <a:pPr algn="l">
              <a:lnSpc>
                <a:spcPct val="130000"/>
              </a:lnSpc>
              <a:spcAft>
                <a:spcPts val="80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Ingeniería de software: "Software Engineering" (Sommerville).</a:t>
            </a:r>
            <a:endParaRPr lang="es-ES"/>
          </a:p>
          <a:p>
            <a:pPr algn="l">
              <a:lnSpc>
                <a:spcPct val="130000"/>
              </a:lnSpc>
              <a:spcAft>
                <a:spcPts val="80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Estándares: PEP 8 para la calidad del código.</a:t>
            </a:r>
            <a:endParaRPr lang="es-ES"/>
          </a:p>
          <a:p>
            <a:pPr algn="l">
              <a:lnSpc>
                <a:spcPct val="130000"/>
              </a:lnSpc>
              <a:spcAft>
                <a:spcPts val="800"/>
              </a:spcAft>
              <a:defRPr/>
            </a:pPr>
            <a:r>
              <a:rPr lang="es-ES" sz="2100" b="0" i="0">
                <a:solidFill>
                  <a:srgbClr val="F0F4F6"/>
                </a:solidFill>
                <a:latin typeface="Calibri"/>
              </a:rPr>
              <a:t>Documentación oficial: docs.python.org y Python Essentials 2 de Cisco.</a:t>
            </a:r>
            <a:endParaRPr lang="es-ES"/>
          </a:p>
        </p:txBody>
      </p:sp>
      <p:sp>
        <p:nvSpPr>
          <p:cNvPr id="965233814" name="Rounded Rectangle 11"/>
          <p:cNvSpPr/>
          <p:nvPr/>
        </p:nvSpPr>
        <p:spPr bwMode="auto">
          <a:xfrm>
            <a:off x="868680" y="6858000"/>
            <a:ext cx="3931920" cy="14630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446716281" name="TextBox 12"/>
          <p:cNvSpPr txBox="1"/>
          <p:nvPr/>
        </p:nvSpPr>
        <p:spPr bwMode="auto">
          <a:xfrm>
            <a:off x="1188720" y="7132320"/>
            <a:ext cx="329220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Casos de uso</a:t>
            </a:r>
            <a:endParaRPr lang="es-ES"/>
          </a:p>
        </p:txBody>
      </p:sp>
      <p:sp>
        <p:nvSpPr>
          <p:cNvPr id="1052572605" name="TextBox 13"/>
          <p:cNvSpPr txBox="1"/>
          <p:nvPr/>
        </p:nvSpPr>
        <p:spPr bwMode="auto">
          <a:xfrm>
            <a:off x="1188720" y="7635240"/>
            <a:ext cx="3292200" cy="320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750" b="0" i="0">
                <a:solidFill>
                  <a:srgbClr val="7CCCF3"/>
                </a:solidFill>
                <a:latin typeface="Consolas"/>
              </a:rPr>
              <a:t>salida/casos_uso.png</a:t>
            </a:r>
            <a:endParaRPr lang="es-ES"/>
          </a:p>
        </p:txBody>
      </p:sp>
      <p:sp>
        <p:nvSpPr>
          <p:cNvPr id="455134722" name="Rounded Rectangle 14"/>
          <p:cNvSpPr/>
          <p:nvPr/>
        </p:nvSpPr>
        <p:spPr bwMode="auto">
          <a:xfrm>
            <a:off x="5074920" y="6858000"/>
            <a:ext cx="3931920" cy="14630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494026995" name="TextBox 15"/>
          <p:cNvSpPr txBox="1"/>
          <p:nvPr/>
        </p:nvSpPr>
        <p:spPr bwMode="auto">
          <a:xfrm>
            <a:off x="5394960" y="7132320"/>
            <a:ext cx="329220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Diagrama de clases</a:t>
            </a:r>
            <a:endParaRPr lang="es-ES"/>
          </a:p>
        </p:txBody>
      </p:sp>
      <p:sp>
        <p:nvSpPr>
          <p:cNvPr id="194204842" name="TextBox 16"/>
          <p:cNvSpPr txBox="1"/>
          <p:nvPr/>
        </p:nvSpPr>
        <p:spPr bwMode="auto">
          <a:xfrm>
            <a:off x="5394960" y="7635240"/>
            <a:ext cx="3292200" cy="320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750" b="0" i="0">
                <a:solidFill>
                  <a:srgbClr val="7CCCF3"/>
                </a:solidFill>
                <a:latin typeface="Consolas"/>
              </a:rPr>
              <a:t>salida/diagrama_clases.png</a:t>
            </a:r>
            <a:endParaRPr lang="es-ES"/>
          </a:p>
        </p:txBody>
      </p:sp>
      <p:sp>
        <p:nvSpPr>
          <p:cNvPr id="1843425920" name="Rounded Rectangle 17"/>
          <p:cNvSpPr/>
          <p:nvPr/>
        </p:nvSpPr>
        <p:spPr bwMode="auto">
          <a:xfrm>
            <a:off x="9281160" y="6858000"/>
            <a:ext cx="3931920" cy="14630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992629549" name="TextBox 18"/>
          <p:cNvSpPr txBox="1"/>
          <p:nvPr/>
        </p:nvSpPr>
        <p:spPr bwMode="auto">
          <a:xfrm>
            <a:off x="9601200" y="7132320"/>
            <a:ext cx="329220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Patrones de diseño</a:t>
            </a:r>
            <a:endParaRPr lang="es-ES"/>
          </a:p>
        </p:txBody>
      </p:sp>
      <p:sp>
        <p:nvSpPr>
          <p:cNvPr id="1523303119" name="TextBox 19"/>
          <p:cNvSpPr txBox="1"/>
          <p:nvPr/>
        </p:nvSpPr>
        <p:spPr bwMode="auto">
          <a:xfrm flipH="0" flipV="0">
            <a:off x="9601200" y="7635239"/>
            <a:ext cx="3791982" cy="320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750" b="0" i="0">
                <a:solidFill>
                  <a:srgbClr val="7CCCF3"/>
                </a:solidFill>
                <a:latin typeface="Consolas"/>
              </a:rPr>
              <a:t>salida/diagrama_patrones.png</a:t>
            </a:r>
            <a:endParaRPr lang="es-ES"/>
          </a:p>
        </p:txBody>
      </p:sp>
      <p:sp>
        <p:nvSpPr>
          <p:cNvPr id="384711442" name="Rounded Rectangle 20"/>
          <p:cNvSpPr/>
          <p:nvPr/>
        </p:nvSpPr>
        <p:spPr bwMode="auto">
          <a:xfrm>
            <a:off x="13487400" y="6858000"/>
            <a:ext cx="3931920" cy="1463040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2009169692" name="TextBox 21"/>
          <p:cNvSpPr txBox="1"/>
          <p:nvPr/>
        </p:nvSpPr>
        <p:spPr bwMode="auto">
          <a:xfrm>
            <a:off x="13807440" y="7132320"/>
            <a:ext cx="3292200" cy="384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100" b="1" i="0">
                <a:solidFill>
                  <a:srgbClr val="A8DADC"/>
                </a:solidFill>
                <a:latin typeface="Calibri"/>
              </a:rPr>
              <a:t>Pruebas unitarias</a:t>
            </a:r>
            <a:endParaRPr lang="es-ES"/>
          </a:p>
        </p:txBody>
      </p:sp>
      <p:sp>
        <p:nvSpPr>
          <p:cNvPr id="95112560" name="TextBox 22"/>
          <p:cNvSpPr txBox="1"/>
          <p:nvPr/>
        </p:nvSpPr>
        <p:spPr bwMode="auto">
          <a:xfrm flipH="0" flipV="0">
            <a:off x="13807440" y="7635239"/>
            <a:ext cx="3857985" cy="320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1750" b="0" i="0">
                <a:solidFill>
                  <a:srgbClr val="7CCCF3"/>
                </a:solidFill>
                <a:latin typeface="Consolas"/>
              </a:rPr>
              <a:t>salida/pruebas_unitarias.png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214446" name="Rectangle 1"/>
          <p:cNvSpPr/>
          <p:nvPr/>
        </p:nvSpPr>
        <p:spPr bwMode="auto">
          <a:xfrm>
            <a:off x="0" y="0"/>
            <a:ext cx="18288000" cy="10287000"/>
          </a:xfrm>
          <a:prstGeom prst="rect">
            <a:avLst/>
          </a:prstGeom>
          <a:solidFill>
            <a:srgbClr val="10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1284326005" name="TextBox 3"/>
          <p:cNvSpPr txBox="1"/>
          <p:nvPr/>
        </p:nvSpPr>
        <p:spPr bwMode="auto">
          <a:xfrm>
            <a:off x="914400" y="2377440"/>
            <a:ext cx="16459560" cy="1042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5700" b="1" i="0">
                <a:solidFill>
                  <a:srgbClr val="E2D6BE"/>
                </a:solidFill>
                <a:latin typeface="Georgia"/>
              </a:rPr>
              <a:t>GRACIAS POR SU ATENCIÓN</a:t>
            </a:r>
            <a:endParaRPr lang="es-ES"/>
          </a:p>
        </p:txBody>
      </p:sp>
      <p:sp>
        <p:nvSpPr>
          <p:cNvPr id="1988751179" name="Rectangle 4"/>
          <p:cNvSpPr/>
          <p:nvPr/>
        </p:nvSpPr>
        <p:spPr bwMode="auto">
          <a:xfrm>
            <a:off x="7223760" y="3611880"/>
            <a:ext cx="3840480" cy="22000"/>
          </a:xfrm>
          <a:prstGeom prst="rect">
            <a:avLst/>
          </a:prstGeom>
          <a:solidFill>
            <a:srgbClr val="A8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734880469" name="TextBox 5"/>
          <p:cNvSpPr txBox="1"/>
          <p:nvPr/>
        </p:nvSpPr>
        <p:spPr bwMode="auto">
          <a:xfrm>
            <a:off x="1828800" y="3977638"/>
            <a:ext cx="14630760" cy="521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850" b="0" i="0">
                <a:solidFill>
                  <a:srgbClr val="F0F4F6"/>
                </a:solidFill>
                <a:latin typeface="Calibri"/>
              </a:rPr>
              <a:t>Sistema de Gestión y Control de Horas Extras y Horas Compensadas</a:t>
            </a:r>
            <a:endParaRPr lang="es-ES"/>
          </a:p>
        </p:txBody>
      </p:sp>
      <p:sp>
        <p:nvSpPr>
          <p:cNvPr id="1859925325" name="TextBox 6"/>
          <p:cNvSpPr txBox="1"/>
          <p:nvPr/>
        </p:nvSpPr>
        <p:spPr bwMode="auto">
          <a:xfrm>
            <a:off x="1828800" y="4526280"/>
            <a:ext cx="14630760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400" b="0" i="0">
                <a:solidFill>
                  <a:srgbClr val="A8DADC"/>
                </a:solidFill>
                <a:latin typeface="Calibri"/>
              </a:rPr>
              <a:t>1FIS275  |  Fundamentos de Programación 2  |  UPC</a:t>
            </a:r>
            <a:endParaRPr lang="es-ES"/>
          </a:p>
        </p:txBody>
      </p:sp>
      <p:sp>
        <p:nvSpPr>
          <p:cNvPr id="1072460757" name="Rounded Rectangle 7"/>
          <p:cNvSpPr/>
          <p:nvPr/>
        </p:nvSpPr>
        <p:spPr bwMode="auto">
          <a:xfrm>
            <a:off x="4023360" y="5486400"/>
            <a:ext cx="10241280" cy="3017519"/>
          </a:xfrm>
          <a:prstGeom prst="roundRect">
            <a:avLst>
              <a:gd name="adj" fmla="val 6000"/>
            </a:avLst>
          </a:prstGeom>
          <a:solidFill>
            <a:srgbClr val="18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ES"/>
          </a:p>
        </p:txBody>
      </p:sp>
      <p:sp>
        <p:nvSpPr>
          <p:cNvPr id="73611571" name="TextBox 8"/>
          <p:cNvSpPr txBox="1"/>
          <p:nvPr/>
        </p:nvSpPr>
        <p:spPr bwMode="auto">
          <a:xfrm>
            <a:off x="4480560" y="5852160"/>
            <a:ext cx="9327239" cy="4667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550" b="1" i="0">
                <a:solidFill>
                  <a:srgbClr val="A8DADC"/>
                </a:solidFill>
                <a:latin typeface="Calibri"/>
              </a:rPr>
              <a:t>EQUIPO — GRUPO 1</a:t>
            </a:r>
            <a:endParaRPr lang="es-ES"/>
          </a:p>
        </p:txBody>
      </p:sp>
      <p:sp>
        <p:nvSpPr>
          <p:cNvPr id="678144623" name="TextBox 9"/>
          <p:cNvSpPr txBox="1"/>
          <p:nvPr/>
        </p:nvSpPr>
        <p:spPr bwMode="auto">
          <a:xfrm>
            <a:off x="4480560" y="6537960"/>
            <a:ext cx="9327239" cy="1646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2400" b="0" i="0">
                <a:solidFill>
                  <a:srgbClr val="F0F4F6"/>
                </a:solidFill>
                <a:latin typeface="Calibri"/>
              </a:rPr>
              <a:t>1.  Marlon James Castro Castro</a:t>
            </a:r>
            <a:endParaRPr lang="es-ES"/>
          </a:p>
          <a:p>
            <a:pPr algn="l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2400" b="0" i="0">
                <a:solidFill>
                  <a:srgbClr val="F0F4F6"/>
                </a:solidFill>
                <a:latin typeface="Calibri"/>
              </a:rPr>
              <a:t>2.  Fátima Auris Aliaga</a:t>
            </a:r>
            <a:endParaRPr lang="es-ES"/>
          </a:p>
          <a:p>
            <a:pPr algn="l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2400" b="0" i="0">
                <a:solidFill>
                  <a:srgbClr val="F0F4F6"/>
                </a:solidFill>
                <a:latin typeface="Calibri"/>
              </a:rPr>
              <a:t>3.  Víctor Hugo López Sobrado</a:t>
            </a:r>
            <a:endParaRPr lang="es-ES"/>
          </a:p>
        </p:txBody>
      </p:sp>
      <p:sp>
        <p:nvSpPr>
          <p:cNvPr id="1131875496" name="TextBox 10"/>
          <p:cNvSpPr txBox="1"/>
          <p:nvPr/>
        </p:nvSpPr>
        <p:spPr bwMode="auto">
          <a:xfrm>
            <a:off x="1828800" y="8915400"/>
            <a:ext cx="14630760" cy="4392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/>
            </a:pPr>
            <a:r>
              <a:rPr lang="es-ES" sz="2400" b="0" i="0">
                <a:solidFill>
                  <a:srgbClr val="A8DADC"/>
                </a:solidFill>
                <a:latin typeface="Calibri"/>
              </a:rPr>
              <a:t>github.com/marlo4220mc/sistema-horas-extras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2026-10-17T02:21:31Z</dcterms:modified>
  <cp:category/>
</cp:coreProperties>
</file>